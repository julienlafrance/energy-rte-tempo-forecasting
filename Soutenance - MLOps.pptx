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302" r:id="rId4"/>
    <p:sldId id="304" r:id="rId5"/>
    <p:sldId id="303" r:id="rId6"/>
    <p:sldId id="305" r:id="rId7"/>
    <p:sldId id="306" r:id="rId8"/>
    <p:sldId id="308" r:id="rId9"/>
    <p:sldId id="309" r:id="rId10"/>
    <p:sldId id="307" r:id="rId11"/>
    <p:sldId id="310" r:id="rId12"/>
    <p:sldId id="268" r:id="rId1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l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555555"/>
        </a:solidFill>
        <a:effectLst/>
        <a:uFillTx/>
        <a:latin typeface="+mj-lt"/>
        <a:ea typeface="+mj-ea"/>
        <a:cs typeface="+mj-cs"/>
        <a:sym typeface="Helvetica Neue"/>
      </a:defRPr>
    </a:lvl9pPr>
  </p:defaultTextStyle>
  <p:extLst>
    <p:ext uri="{521415D9-36F7-43E2-AB2F-B90AF26B5E84}">
      <p14:sectionLst xmlns:p14="http://schemas.microsoft.com/office/powerpoint/2010/main">
        <p14:section name="Présentation finale" id="{8E07182E-2F65-45ED-AF4D-6E4F21505D03}">
          <p14:sldIdLst>
            <p14:sldId id="256"/>
            <p14:sldId id="257"/>
            <p14:sldId id="302"/>
            <p14:sldId id="304"/>
            <p14:sldId id="303"/>
            <p14:sldId id="305"/>
            <p14:sldId id="306"/>
            <p14:sldId id="308"/>
            <p14:sldId id="309"/>
            <p14:sldId id="307"/>
            <p14:sldId id="310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4E753C-6ACA-ED92-5F1B-6A5C8A0B2CF0}" v="233" dt="2026-02-06T08:00:48.491"/>
    <p1510:client id="{05F4B054-F6BF-E85D-DD28-C86FDC93E9DF}" v="26" dt="2026-02-05T09:36:39.134"/>
    <p1510:client id="{0AAB604F-65FA-6A6D-5ECB-AC8D33552AFA}" v="11" dt="2026-02-05T09:06:52.408"/>
    <p1510:client id="{35F657DA-DBCC-AF5B-0CF1-11B763F0B2A0}" v="225" dt="2026-02-04T19:27:21.378"/>
    <p1510:client id="{36BE05B0-9053-EFB6-FC2E-2E5F41F9B485}" v="1" dt="2026-02-04T12:59:50.948"/>
    <p1510:client id="{4449B90B-0094-6014-1462-385BB4746B4B}" v="26" dt="2026-02-05T09:05:53.592"/>
    <p1510:client id="{776D618D-20B5-E448-B5ED-CDE9584FFB66}" v="2305" dt="2026-02-05T10:08:10.585"/>
    <p1510:client id="{89E51F76-5B0F-B8D4-1718-F6F5597AA292}" v="101" dt="2026-02-04T12:53:16.645"/>
    <p1510:client id="{90B84504-F53A-67D1-516F-33D8338F2920}" v="211" dt="2026-02-06T09:06:24.457"/>
    <p1510:client id="{A510FADB-7F7E-28A0-3C23-522577F353F9}" v="203" dt="2026-02-05T19:58:54.226"/>
    <p1510:client id="{DB2AEF24-4DB0-17D9-2D88-A6BDEC6A376C}" v="398" dt="2026-02-06T09:27:26.851"/>
    <p1510:client id="{DC9EA0CA-5A05-A365-2907-056CCDF8748D}" v="2" dt="2026-02-05T18:03:52.041"/>
    <p1510:client id="{F2F5A471-0FEA-753D-36C1-5861C5DB4A7F}" v="663" dt="2026-02-05T15:27:23.926"/>
    <p1510:client id="{F5D7433B-1E14-4E35-B854-C934460B650B}" v="753" dt="2026-02-06T12:38:04.063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555555"/>
        </a:fontRef>
        <a:srgbClr val="555555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D4"/>
          </a:solidFill>
        </a:fill>
      </a:tcStyle>
    </a:wholeTbl>
    <a:band2H>
      <a:tcTxStyle/>
      <a:tcStyle>
        <a:tcBdr/>
        <a:fill>
          <a:solidFill>
            <a:srgbClr val="E7E6EB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55555"/>
        </a:fontRef>
        <a:srgbClr val="555555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BECCE"/>
          </a:solidFill>
        </a:fill>
      </a:tcStyle>
    </a:wholeTbl>
    <a:band2H>
      <a:tcTxStyle/>
      <a:tcStyle>
        <a:tcBdr/>
        <a:fill>
          <a:solidFill>
            <a:srgbClr val="FDF6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55555"/>
        </a:fontRef>
        <a:srgbClr val="555555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55555"/>
        </a:fontRef>
        <a:srgbClr val="555555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55555"/>
        </a:fontRef>
        <a:srgbClr val="555555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55555"/>
              </a:solidFill>
              <a:prstDash val="solid"/>
              <a:round/>
            </a:ln>
          </a:top>
          <a:bottom>
            <a:ln w="25400" cap="flat">
              <a:solidFill>
                <a:srgbClr val="555555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55555"/>
              </a:solidFill>
              <a:prstDash val="solid"/>
              <a:round/>
            </a:ln>
          </a:top>
          <a:bottom>
            <a:ln w="25400" cap="flat">
              <a:solidFill>
                <a:srgbClr val="555555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55555"/>
        </a:fontRef>
        <a:srgbClr val="555555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55555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55555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55555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55555"/>
        </a:fontRef>
        <a:srgbClr val="555555"/>
      </a:tcTxStyle>
      <a:tcStyle>
        <a:tcBdr>
          <a:left>
            <a:ln w="12700" cap="flat">
              <a:solidFill>
                <a:srgbClr val="555555"/>
              </a:solidFill>
              <a:prstDash val="solid"/>
              <a:round/>
            </a:ln>
          </a:left>
          <a:right>
            <a:ln w="12700" cap="flat">
              <a:solidFill>
                <a:srgbClr val="555555"/>
              </a:solidFill>
              <a:prstDash val="solid"/>
              <a:round/>
            </a:ln>
          </a:right>
          <a:top>
            <a:ln w="12700" cap="flat">
              <a:solidFill>
                <a:srgbClr val="555555"/>
              </a:solidFill>
              <a:prstDash val="solid"/>
              <a:round/>
            </a:ln>
          </a:top>
          <a:bottom>
            <a:ln w="12700" cap="flat">
              <a:solidFill>
                <a:srgbClr val="555555"/>
              </a:solidFill>
              <a:prstDash val="solid"/>
              <a:round/>
            </a:ln>
          </a:bottom>
          <a:insideH>
            <a:ln w="12700" cap="flat">
              <a:solidFill>
                <a:srgbClr val="555555"/>
              </a:solidFill>
              <a:prstDash val="solid"/>
              <a:round/>
            </a:ln>
          </a:insideH>
          <a:insideV>
            <a:ln w="12700" cap="flat">
              <a:solidFill>
                <a:srgbClr val="555555"/>
              </a:solidFill>
              <a:prstDash val="solid"/>
              <a:round/>
            </a:ln>
          </a:insideV>
        </a:tcBdr>
        <a:fill>
          <a:solidFill>
            <a:srgbClr val="555555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555555"/>
        </a:fontRef>
        <a:srgbClr val="555555"/>
      </a:tcTxStyle>
      <a:tcStyle>
        <a:tcBdr>
          <a:left>
            <a:ln w="12700" cap="flat">
              <a:solidFill>
                <a:srgbClr val="555555"/>
              </a:solidFill>
              <a:prstDash val="solid"/>
              <a:round/>
            </a:ln>
          </a:left>
          <a:right>
            <a:ln w="12700" cap="flat">
              <a:solidFill>
                <a:srgbClr val="555555"/>
              </a:solidFill>
              <a:prstDash val="solid"/>
              <a:round/>
            </a:ln>
          </a:right>
          <a:top>
            <a:ln w="12700" cap="flat">
              <a:solidFill>
                <a:srgbClr val="555555"/>
              </a:solidFill>
              <a:prstDash val="solid"/>
              <a:round/>
            </a:ln>
          </a:top>
          <a:bottom>
            <a:ln w="12700" cap="flat">
              <a:solidFill>
                <a:srgbClr val="555555"/>
              </a:solidFill>
              <a:prstDash val="solid"/>
              <a:round/>
            </a:ln>
          </a:bottom>
          <a:insideH>
            <a:ln w="12700" cap="flat">
              <a:solidFill>
                <a:srgbClr val="555555"/>
              </a:solidFill>
              <a:prstDash val="solid"/>
              <a:round/>
            </a:ln>
          </a:insideH>
          <a:insideV>
            <a:ln w="12700" cap="flat">
              <a:solidFill>
                <a:srgbClr val="555555"/>
              </a:solidFill>
              <a:prstDash val="solid"/>
              <a:round/>
            </a:ln>
          </a:insideV>
        </a:tcBdr>
        <a:fill>
          <a:solidFill>
            <a:srgbClr val="555555">
              <a:alpha val="20000"/>
            </a:srgbClr>
          </a:solidFill>
        </a:fill>
      </a:tcStyle>
    </a:firstCol>
    <a:lastRow>
      <a:tcTxStyle b="on" i="off">
        <a:fontRef idx="major">
          <a:srgbClr val="555555"/>
        </a:fontRef>
        <a:srgbClr val="555555"/>
      </a:tcTxStyle>
      <a:tcStyle>
        <a:tcBdr>
          <a:left>
            <a:ln w="12700" cap="flat">
              <a:solidFill>
                <a:srgbClr val="555555"/>
              </a:solidFill>
              <a:prstDash val="solid"/>
              <a:round/>
            </a:ln>
          </a:left>
          <a:right>
            <a:ln w="12700" cap="flat">
              <a:solidFill>
                <a:srgbClr val="555555"/>
              </a:solidFill>
              <a:prstDash val="solid"/>
              <a:round/>
            </a:ln>
          </a:right>
          <a:top>
            <a:ln w="50800" cap="flat">
              <a:solidFill>
                <a:srgbClr val="555555"/>
              </a:solidFill>
              <a:prstDash val="solid"/>
              <a:round/>
            </a:ln>
          </a:top>
          <a:bottom>
            <a:ln w="12700" cap="flat">
              <a:solidFill>
                <a:srgbClr val="555555"/>
              </a:solidFill>
              <a:prstDash val="solid"/>
              <a:round/>
            </a:ln>
          </a:bottom>
          <a:insideH>
            <a:ln w="12700" cap="flat">
              <a:solidFill>
                <a:srgbClr val="555555"/>
              </a:solidFill>
              <a:prstDash val="solid"/>
              <a:round/>
            </a:ln>
          </a:insideH>
          <a:insideV>
            <a:ln w="12700" cap="flat">
              <a:solidFill>
                <a:srgbClr val="555555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555555"/>
        </a:fontRef>
        <a:srgbClr val="555555"/>
      </a:tcTxStyle>
      <a:tcStyle>
        <a:tcBdr>
          <a:left>
            <a:ln w="12700" cap="flat">
              <a:solidFill>
                <a:srgbClr val="555555"/>
              </a:solidFill>
              <a:prstDash val="solid"/>
              <a:round/>
            </a:ln>
          </a:left>
          <a:right>
            <a:ln w="12700" cap="flat">
              <a:solidFill>
                <a:srgbClr val="555555"/>
              </a:solidFill>
              <a:prstDash val="solid"/>
              <a:round/>
            </a:ln>
          </a:right>
          <a:top>
            <a:ln w="12700" cap="flat">
              <a:solidFill>
                <a:srgbClr val="555555"/>
              </a:solidFill>
              <a:prstDash val="solid"/>
              <a:round/>
            </a:ln>
          </a:top>
          <a:bottom>
            <a:ln w="25400" cap="flat">
              <a:solidFill>
                <a:srgbClr val="555555"/>
              </a:solidFill>
              <a:prstDash val="solid"/>
              <a:round/>
            </a:ln>
          </a:bottom>
          <a:insideH>
            <a:ln w="12700" cap="flat">
              <a:solidFill>
                <a:srgbClr val="555555"/>
              </a:solidFill>
              <a:prstDash val="solid"/>
              <a:round/>
            </a:ln>
          </a:insideH>
          <a:insideV>
            <a:ln w="12700" cap="flat">
              <a:solidFill>
                <a:srgbClr val="555555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89816"/>
  </p:normalViewPr>
  <p:slideViewPr>
    <p:cSldViewPr snapToGrid="0">
      <p:cViewPr varScale="1">
        <p:scale>
          <a:sx n="55" d="100"/>
          <a:sy n="55" d="100"/>
        </p:scale>
        <p:origin x="5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7" name="Shape 4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61774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JULIEN</a:t>
            </a:r>
          </a:p>
        </p:txBody>
      </p:sp>
    </p:spTree>
    <p:extLst>
      <p:ext uri="{BB962C8B-B14F-4D97-AF65-F5344CB8AC3E}">
        <p14:creationId xmlns:p14="http://schemas.microsoft.com/office/powerpoint/2010/main" val="165207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9A8B7-C64D-64CE-5040-0DDB9405E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935BF1-3682-C089-C604-9BE240F51D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2DE7FA6-6717-8BDD-0F3B-67EBC2126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YASSINE</a:t>
            </a:r>
          </a:p>
        </p:txBody>
      </p:sp>
    </p:spTree>
    <p:extLst>
      <p:ext uri="{BB962C8B-B14F-4D97-AF65-F5344CB8AC3E}">
        <p14:creationId xmlns:p14="http://schemas.microsoft.com/office/powerpoint/2010/main" val="42761155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4254-86A1-1447-22DD-71C9747D9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CB9E180-A493-96D9-D108-29566E6B7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5702F87-3926-8CDB-0FF3-BDA469829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YASSINE</a:t>
            </a:r>
          </a:p>
        </p:txBody>
      </p:sp>
    </p:spTree>
    <p:extLst>
      <p:ext uri="{BB962C8B-B14F-4D97-AF65-F5344CB8AC3E}">
        <p14:creationId xmlns:p14="http://schemas.microsoft.com/office/powerpoint/2010/main" val="13571394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FE4F5-D317-DA57-BEE9-3F15FA8F0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91B4CCD-3E05-C9EF-3D6D-2207385E5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49A877C-DF3F-84B7-DF62-BCFF4E664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YASSINE</a:t>
            </a:r>
          </a:p>
        </p:txBody>
      </p:sp>
    </p:spTree>
    <p:extLst>
      <p:ext uri="{BB962C8B-B14F-4D97-AF65-F5344CB8AC3E}">
        <p14:creationId xmlns:p14="http://schemas.microsoft.com/office/powerpoint/2010/main" val="11575957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3E74E-D95D-FC27-804B-34C6F2E14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6B0C1BA-0B7D-DCC9-2F21-680EED795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6B67260-2355-6D49-34B7-FE21EEFCD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SARA</a:t>
            </a:r>
          </a:p>
        </p:txBody>
      </p:sp>
    </p:spTree>
    <p:extLst>
      <p:ext uri="{BB962C8B-B14F-4D97-AF65-F5344CB8AC3E}">
        <p14:creationId xmlns:p14="http://schemas.microsoft.com/office/powerpoint/2010/main" val="13316044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9C140-A297-FB47-3A3A-7DE954151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7E9CA6C-D8A7-DE43-E33D-688FE3A2E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718EB59-5606-674A-1716-932B9A37F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SARA</a:t>
            </a:r>
          </a:p>
        </p:txBody>
      </p:sp>
    </p:spTree>
    <p:extLst>
      <p:ext uri="{BB962C8B-B14F-4D97-AF65-F5344CB8AC3E}">
        <p14:creationId xmlns:p14="http://schemas.microsoft.com/office/powerpoint/2010/main" val="2460590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0AD06-D35C-B129-F151-40B6AE305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32FD7F8-1E3B-E0DD-EA3C-0B99AED51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FE331A9-81C5-1ED1-03E6-D9053E280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AMINE</a:t>
            </a:r>
          </a:p>
        </p:txBody>
      </p:sp>
    </p:spTree>
    <p:extLst>
      <p:ext uri="{BB962C8B-B14F-4D97-AF65-F5344CB8AC3E}">
        <p14:creationId xmlns:p14="http://schemas.microsoft.com/office/powerpoint/2010/main" val="366927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19B65-3C99-805E-291D-39107BA71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BED3276-32CB-9948-E877-2313B4B546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F068434-26A5-4C65-4D94-143154833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Julien – 1 minute 30</a:t>
            </a:r>
          </a:p>
        </p:txBody>
      </p:sp>
    </p:spTree>
    <p:extLst>
      <p:ext uri="{BB962C8B-B14F-4D97-AF65-F5344CB8AC3E}">
        <p14:creationId xmlns:p14="http://schemas.microsoft.com/office/powerpoint/2010/main" val="4090866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DE59C-2D29-D53E-5CE8-7784154BC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CE7B71D-44A5-4282-8E0A-A587F0A74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F43B03F-1D1C-E4C2-9E6C-FB99CEB18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Julien – 1 minute 30</a:t>
            </a:r>
          </a:p>
        </p:txBody>
      </p:sp>
    </p:spTree>
    <p:extLst>
      <p:ext uri="{BB962C8B-B14F-4D97-AF65-F5344CB8AC3E}">
        <p14:creationId xmlns:p14="http://schemas.microsoft.com/office/powerpoint/2010/main" val="33470754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105C8-2C7C-1D15-65F2-8FA7CE7C5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368286-E00C-F067-8CFF-53ED76C8B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43A11D-1382-F0DA-C610-2E3E73813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Julien – 1 minute 30</a:t>
            </a:r>
          </a:p>
        </p:txBody>
      </p:sp>
    </p:spTree>
    <p:extLst>
      <p:ext uri="{BB962C8B-B14F-4D97-AF65-F5344CB8AC3E}">
        <p14:creationId xmlns:p14="http://schemas.microsoft.com/office/powerpoint/2010/main" val="354785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re">
    <p:bg>
      <p:bgPr>
        <a:gradFill flip="none" rotWithShape="1">
          <a:gsLst>
            <a:gs pos="0">
              <a:srgbClr val="BF1238"/>
            </a:gs>
            <a:gs pos="100000">
              <a:srgbClr val="FA306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de la présentation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 defTabSz="2438337">
              <a:lnSpc>
                <a:spcPct val="80000"/>
              </a:lnSpc>
              <a:defRPr sz="10000" b="1" spc="-200">
                <a:gradFill flip="none" rotWithShape="1">
                  <a:gsLst>
                    <a:gs pos="0">
                      <a:srgbClr val="FAFAFA"/>
                    </a:gs>
                    <a:gs pos="100000">
                      <a:srgbClr val="D7D7D7"/>
                    </a:gs>
                  </a:gsLst>
                  <a:lin ang="5400000" scaled="0"/>
                </a:gradFill>
              </a:defRPr>
            </a:lvl1pPr>
          </a:lstStyle>
          <a:p>
            <a:r>
              <a:t>Titre de la présentation</a:t>
            </a:r>
          </a:p>
        </p:txBody>
      </p:sp>
      <p:sp>
        <p:nvSpPr>
          <p:cNvPr id="14" name="Numéro de diapositive"/>
          <p:cNvSpPr txBox="1">
            <a:spLocks noGrp="1"/>
          </p:cNvSpPr>
          <p:nvPr>
            <p:ph type="sldNum" sz="quarter" idx="2"/>
          </p:nvPr>
        </p:nvSpPr>
        <p:spPr>
          <a:xfrm>
            <a:off x="12185750" y="12872825"/>
            <a:ext cx="594594" cy="582774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re général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Titre général</a:t>
            </a:r>
          </a:p>
        </p:txBody>
      </p:sp>
      <p:sp>
        <p:nvSpPr>
          <p:cNvPr id="22" name="Numéro de diapositiv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re et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666699290_02_crop_3159x1892.jpg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8" name="Titre de la présentation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 defTabSz="2340804">
              <a:lnSpc>
                <a:spcPct val="80000"/>
              </a:lnSpc>
              <a:defRPr sz="8100" spc="-163">
                <a:gradFill flip="none" rotWithShape="1">
                  <a:gsLst>
                    <a:gs pos="0">
                      <a:srgbClr val="FFFFFF"/>
                    </a:gs>
                    <a:gs pos="100000">
                      <a:srgbClr val="D7D7D7"/>
                    </a:gs>
                  </a:gsLst>
                  <a:lin ang="5400000" scaled="0"/>
                </a:gradFill>
                <a:latin typeface="DINOT-Regular"/>
                <a:ea typeface="DINOT-Regular"/>
                <a:cs typeface="DINOT-Regular"/>
                <a:sym typeface="DINOT-Regular"/>
              </a:defRPr>
            </a:lvl1pPr>
          </a:lstStyle>
          <a:p>
            <a:r>
              <a:t>Titre de la présentation</a:t>
            </a:r>
          </a:p>
        </p:txBody>
      </p:sp>
      <p:sp>
        <p:nvSpPr>
          <p:cNvPr id="39" name="Texte niveau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09"/>
            <a:ext cx="21971000" cy="1116954"/>
          </a:xfrm>
          <a:prstGeom prst="rect">
            <a:avLst/>
          </a:prstGeom>
        </p:spPr>
        <p:txBody>
          <a:bodyPr/>
          <a:lstStyle>
            <a:lvl1pPr marL="0" indent="0" defTabSz="825500">
              <a:spcBef>
                <a:spcPts val="0"/>
              </a:spcBef>
              <a:buClrTx/>
              <a:buSzTx/>
              <a:buNone/>
              <a:defRPr sz="5500">
                <a:gradFill flip="none" rotWithShape="1">
                  <a:gsLst>
                    <a:gs pos="0">
                      <a:srgbClr val="FFFFFF"/>
                    </a:gs>
                    <a:gs pos="100000">
                      <a:srgbClr val="D7D7D7"/>
                    </a:gs>
                  </a:gsLst>
                  <a:lin ang="5400000" scaled="0"/>
                </a:gradFill>
              </a:defRPr>
            </a:lvl1pPr>
            <a:lvl2pPr marL="1308100" indent="-698500" defTabSz="825500">
              <a:spcBef>
                <a:spcPts val="0"/>
              </a:spcBef>
              <a:buClrTx/>
              <a:defRPr sz="5500">
                <a:gradFill flip="none" rotWithShape="1">
                  <a:gsLst>
                    <a:gs pos="0">
                      <a:srgbClr val="FFFFFF"/>
                    </a:gs>
                    <a:gs pos="100000">
                      <a:srgbClr val="D7D7D7"/>
                    </a:gs>
                  </a:gsLst>
                  <a:lin ang="5400000" scaled="0"/>
                </a:gradFill>
              </a:defRPr>
            </a:lvl2pPr>
            <a:lvl3pPr marL="1917700" indent="-698500" defTabSz="825500">
              <a:spcBef>
                <a:spcPts val="0"/>
              </a:spcBef>
              <a:buClrTx/>
              <a:defRPr sz="5500">
                <a:gradFill flip="none" rotWithShape="1">
                  <a:gsLst>
                    <a:gs pos="0">
                      <a:srgbClr val="FFFFFF"/>
                    </a:gs>
                    <a:gs pos="100000">
                      <a:srgbClr val="D7D7D7"/>
                    </a:gs>
                  </a:gsLst>
                  <a:lin ang="5400000" scaled="0"/>
                </a:gradFill>
              </a:defRPr>
            </a:lvl3pPr>
            <a:lvl4pPr marL="2527300" indent="-698500" defTabSz="825500">
              <a:spcBef>
                <a:spcPts val="0"/>
              </a:spcBef>
              <a:buClrTx/>
              <a:defRPr sz="5500">
                <a:gradFill flip="none" rotWithShape="1">
                  <a:gsLst>
                    <a:gs pos="0">
                      <a:srgbClr val="FFFFFF"/>
                    </a:gs>
                    <a:gs pos="100000">
                      <a:srgbClr val="D7D7D7"/>
                    </a:gs>
                  </a:gsLst>
                  <a:lin ang="5400000" scaled="0"/>
                </a:gradFill>
              </a:defRPr>
            </a:lvl4pPr>
            <a:lvl5pPr marL="3136900" indent="-698500" defTabSz="825500">
              <a:spcBef>
                <a:spcPts val="0"/>
              </a:spcBef>
              <a:buClrTx/>
              <a:defRPr sz="5500">
                <a:gradFill flip="none" rotWithShape="1">
                  <a:gsLst>
                    <a:gs pos="0">
                      <a:srgbClr val="FFFFFF"/>
                    </a:gs>
                    <a:gs pos="100000">
                      <a:srgbClr val="D7D7D7"/>
                    </a:gs>
                  </a:gsLst>
                  <a:lin ang="5400000" scaled="0"/>
                </a:gradFill>
              </a:defRPr>
            </a:lvl5pPr>
          </a:lstStyle>
          <a:p>
            <a:r>
              <a:t>Sous-titre de la présentation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0" name="Numéro de diapositive"/>
          <p:cNvSpPr txBox="1">
            <a:spLocks noGrp="1"/>
          </p:cNvSpPr>
          <p:nvPr>
            <p:ph type="sldNum" sz="quarter" idx="2"/>
          </p:nvPr>
        </p:nvSpPr>
        <p:spPr>
          <a:xfrm>
            <a:off x="12185750" y="12872825"/>
            <a:ext cx="594594" cy="582774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-50800"/>
            <a:ext cx="2489200" cy="13817600"/>
          </a:xfrm>
          <a:prstGeom prst="rect">
            <a:avLst/>
          </a:prstGeom>
          <a:solidFill>
            <a:srgbClr val="FFFFFF">
              <a:alpha val="79916"/>
            </a:srgbClr>
          </a:solidFill>
          <a:ln w="12700">
            <a:miter lim="400000"/>
          </a:ln>
          <a:effectLst>
            <a:outerShdw blurRad="254000" dist="252542" dir="20982190" rotWithShape="0">
              <a:srgbClr val="000000">
                <a:alpha val="20264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3" name="Logo_Telecom_IPParis_RVB_fond_V.ai" descr="Logo_Telecom_IPParis_RVB_fond_V.a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906" y="464557"/>
            <a:ext cx="1519388" cy="2245986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itre général"/>
          <p:cNvSpPr txBox="1">
            <a:spLocks noGrp="1"/>
          </p:cNvSpPr>
          <p:nvPr>
            <p:ph type="title" hasCustomPrompt="1"/>
          </p:nvPr>
        </p:nvSpPr>
        <p:spPr>
          <a:xfrm>
            <a:off x="3103329" y="6230875"/>
            <a:ext cx="20510108" cy="2245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Titre général</a:t>
            </a:r>
          </a:p>
        </p:txBody>
      </p:sp>
      <p:sp>
        <p:nvSpPr>
          <p:cNvPr id="5" name="Texte niveau 1…"/>
          <p:cNvSpPr txBox="1">
            <a:spLocks noGrp="1"/>
          </p:cNvSpPr>
          <p:nvPr>
            <p:ph type="body" idx="1"/>
          </p:nvPr>
        </p:nvSpPr>
        <p:spPr>
          <a:xfrm>
            <a:off x="1219200" y="3200400"/>
            <a:ext cx="21945600" cy="9051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6" name="Numéro de diapositive"/>
          <p:cNvSpPr txBox="1">
            <a:spLocks noGrp="1"/>
          </p:cNvSpPr>
          <p:nvPr>
            <p:ph type="sldNum" sz="quarter" idx="2"/>
          </p:nvPr>
        </p:nvSpPr>
        <p:spPr>
          <a:xfrm>
            <a:off x="12185750" y="12877058"/>
            <a:ext cx="594594" cy="582775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914400">
              <a:spcBef>
                <a:spcPts val="1200"/>
              </a:spcBef>
              <a:defRPr sz="3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</p:sldLayoutIdLst>
  <p:transition spd="med"/>
  <p:txStyles>
    <p:title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1pPr>
      <a:lvl2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2pPr>
      <a:lvl3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3pPr>
      <a:lvl4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4pPr>
      <a:lvl5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5pPr>
      <a:lvl6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6pPr>
      <a:lvl7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7pPr>
      <a:lvl8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8pPr>
      <a:lvl9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BF1238"/>
          </a:solidFill>
          <a:uFillTx/>
          <a:latin typeface="DINOT-Medium"/>
          <a:ea typeface="DINOT-Medium"/>
          <a:cs typeface="DINOT-Medium"/>
          <a:sym typeface="DINOT-Medium"/>
        </a:defRPr>
      </a:lvl9pPr>
    </p:titleStyle>
    <p:bodyStyle>
      <a:lvl1pPr marL="609598" marR="0" indent="-609598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1pPr>
      <a:lvl2pPr marL="1168400" marR="0" indent="-558800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2pPr>
      <a:lvl3pPr marL="1778000" marR="0" indent="-558800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3pPr>
      <a:lvl4pPr marL="2387600" marR="0" indent="-558800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4pPr>
      <a:lvl5pPr marL="2997200" marR="0" indent="-558800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5pPr>
      <a:lvl6pPr marL="3606800" marR="0" indent="-558800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6pPr>
      <a:lvl7pPr marL="4216400" marR="0" indent="-558800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7pPr>
      <a:lvl8pPr marL="4826000" marR="0" indent="-558800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8pPr>
      <a:lvl9pPr marL="5435600" marR="0" indent="-558800" algn="l" defTabSz="2438337" rtl="0" latinLnBrk="0">
        <a:lnSpc>
          <a:spcPct val="100000"/>
        </a:lnSpc>
        <a:spcBef>
          <a:spcPts val="4500"/>
        </a:spcBef>
        <a:spcAft>
          <a:spcPts val="0"/>
        </a:spcAft>
        <a:buClr>
          <a:srgbClr val="BF1238"/>
        </a:buClr>
        <a:buSzPct val="123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DINOT-Regular"/>
          <a:ea typeface="DINOT-Regular"/>
          <a:cs typeface="DINOT-Regular"/>
          <a:sym typeface="DINOT-Regular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Tx/>
        <a:buNone/>
        <a:tabLst/>
        <a:defRPr sz="3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80.212:8050/#/experimen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80.212:8000/doc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hyperlink" Target="http://192.168.80.127:8000/doc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192.168.80.127:8501/" TargetMode="External"/><Relationship Id="rId4" Type="http://schemas.openxmlformats.org/officeDocument/2006/relationships/hyperlink" Target="http://192.168.80.212:8501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kibana.lafrance.io/app/dashboards#/view/1d3cf053-9060-4798-96e8-6204baacaaba?_g=(filters:!(),refreshInterval:(pause:!t,value:60000),time:(from:now-15m,to:now))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estra713.lafrance.io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ibana.lafrance.io/" TargetMode="External"/><Relationship Id="rId5" Type="http://schemas.openxmlformats.org/officeDocument/2006/relationships/hyperlink" Target="https://api713.lafrance.io/docs" TargetMode="External"/><Relationship Id="rId4" Type="http://schemas.openxmlformats.org/officeDocument/2006/relationships/hyperlink" Target="https://webapp713.lafrance.io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42" y="326571"/>
            <a:ext cx="7262588" cy="3395496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Titre 4"/>
          <p:cNvSpPr txBox="1"/>
          <p:nvPr/>
        </p:nvSpPr>
        <p:spPr>
          <a:xfrm>
            <a:off x="2040696" y="4777156"/>
            <a:ext cx="15399718" cy="28725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317395">
              <a:lnSpc>
                <a:spcPct val="80000"/>
              </a:lnSpc>
              <a:defRPr sz="11880" spc="-19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11850" dirty="0"/>
              <a:t>Soutenance projet</a:t>
            </a:r>
          </a:p>
          <a:p>
            <a:endParaRPr lang="fr-FR" sz="3000" dirty="0"/>
          </a:p>
          <a:p>
            <a:r>
              <a:rPr lang="fr-FR" sz="9600" dirty="0"/>
              <a:t>DATA713 - </a:t>
            </a:r>
            <a:r>
              <a:rPr lang="fr-FR" sz="9600" dirty="0" err="1"/>
              <a:t>MLOps</a:t>
            </a:r>
            <a:endParaRPr sz="9600" dirty="0"/>
          </a:p>
        </p:txBody>
      </p:sp>
      <p:pic>
        <p:nvPicPr>
          <p:cNvPr id="53" name="Image 20" descr="Image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27892" y="1065763"/>
            <a:ext cx="4915665" cy="191710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7" name="Groupe 32"/>
          <p:cNvGrpSpPr/>
          <p:nvPr/>
        </p:nvGrpSpPr>
        <p:grpSpPr>
          <a:xfrm>
            <a:off x="9110946" y="12615689"/>
            <a:ext cx="15174687" cy="432925"/>
            <a:chOff x="0" y="0"/>
            <a:chExt cx="15174685" cy="432924"/>
          </a:xfrm>
        </p:grpSpPr>
        <p:sp>
          <p:nvSpPr>
            <p:cNvPr id="54" name="Rectangle 33"/>
            <p:cNvSpPr/>
            <p:nvPr/>
          </p:nvSpPr>
          <p:spPr>
            <a:xfrm>
              <a:off x="0" y="-1"/>
              <a:ext cx="5049480" cy="432926"/>
            </a:xfrm>
            <a:prstGeom prst="rect">
              <a:avLst/>
            </a:prstGeom>
            <a:solidFill>
              <a:srgbClr val="BF1238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55" name="Rectangle 34"/>
            <p:cNvSpPr/>
            <p:nvPr/>
          </p:nvSpPr>
          <p:spPr>
            <a:xfrm>
              <a:off x="5062117" y="-1"/>
              <a:ext cx="5049480" cy="432926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56" name="Rectangle 35"/>
            <p:cNvSpPr/>
            <p:nvPr/>
          </p:nvSpPr>
          <p:spPr>
            <a:xfrm>
              <a:off x="10125206" y="-1"/>
              <a:ext cx="5049480" cy="432926"/>
            </a:xfrm>
            <a:prstGeom prst="rect">
              <a:avLst/>
            </a:prstGeom>
            <a:solidFill>
              <a:srgbClr val="6D504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3" name="ZoneTexte 2">
            <a:extLst>
              <a:ext uri="{FF2B5EF4-FFF2-40B4-BE49-F238E27FC236}">
                <a16:creationId xmlns:a16="http://schemas.microsoft.com/office/drawing/2014/main" id="{436350E8-61C7-D57A-666F-C895E542C641}"/>
              </a:ext>
            </a:extLst>
          </p:cNvPr>
          <p:cNvSpPr txBox="1"/>
          <p:nvPr/>
        </p:nvSpPr>
        <p:spPr>
          <a:xfrm>
            <a:off x="2040696" y="9464304"/>
            <a:ext cx="11941969" cy="25648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4000" dirty="0">
                <a:latin typeface="Poppins"/>
                <a:cs typeface="Poppins"/>
              </a:rPr>
              <a:t>EL MOUNTASSER SARA</a:t>
            </a:r>
          </a:p>
          <a:p>
            <a:r>
              <a:rPr lang="fr-FR" sz="4000" dirty="0">
                <a:latin typeface="Poppins"/>
                <a:cs typeface="Poppins"/>
              </a:rPr>
              <a:t>ELAMINE Mohammed </a:t>
            </a:r>
          </a:p>
          <a:p>
            <a:r>
              <a:rPr lang="fr-FR" sz="4000" dirty="0">
                <a:latin typeface="Poppins"/>
                <a:cs typeface="Poppins"/>
              </a:rPr>
              <a:t>LAFRANCE Julien</a:t>
            </a:r>
          </a:p>
          <a:p>
            <a:r>
              <a:rPr lang="fr-FR" sz="4000" dirty="0">
                <a:latin typeface="Poppins"/>
                <a:cs typeface="Poppins"/>
              </a:rPr>
              <a:t>MERNISSI ARIFI Yassine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FAC077B-C12A-9D13-FC98-CCE4E1C4DF40}"/>
              </a:ext>
            </a:extLst>
          </p:cNvPr>
          <p:cNvSpPr txBox="1"/>
          <p:nvPr/>
        </p:nvSpPr>
        <p:spPr>
          <a:xfrm>
            <a:off x="16625455" y="8998192"/>
            <a:ext cx="7660179" cy="19492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dirty="0" err="1">
                <a:latin typeface="Poppins"/>
              </a:rPr>
              <a:t>Encadrants</a:t>
            </a:r>
            <a:r>
              <a:rPr lang="en-US" sz="4000" b="1" dirty="0">
                <a:latin typeface="Poppins"/>
              </a:rPr>
              <a:t>:</a:t>
            </a:r>
          </a:p>
          <a:p>
            <a:r>
              <a:rPr lang="en-US" sz="4000" dirty="0">
                <a:latin typeface="Poppins"/>
              </a:rPr>
              <a:t>M. CADAPEAUD Antonin</a:t>
            </a:r>
          </a:p>
          <a:p>
            <a:r>
              <a:rPr lang="en-US" sz="4000" dirty="0">
                <a:latin typeface="Poppins"/>
                <a:cs typeface="Poppins"/>
              </a:rPr>
              <a:t>M. PRILLARD Martin</a:t>
            </a:r>
            <a:endParaRPr lang="en-US" sz="4000" dirty="0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/>
          <p:cNvSpPr txBox="1"/>
          <p:nvPr/>
        </p:nvSpPr>
        <p:spPr>
          <a:xfrm>
            <a:off x="3167745" y="1087347"/>
            <a:ext cx="13128171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rm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9300" dirty="0"/>
              <a:t>Nos données</a:t>
            </a:r>
          </a:p>
        </p:txBody>
      </p:sp>
      <p:pic>
        <p:nvPicPr>
          <p:cNvPr id="4" name="Image 3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8A1A5460-7A9D-FA9D-DACD-A416E6F69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073" y="3593114"/>
            <a:ext cx="4962237" cy="754968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3F3E74C-6556-2F56-A5FC-CA28FED68A0E}"/>
              </a:ext>
            </a:extLst>
          </p:cNvPr>
          <p:cNvSpPr txBox="1"/>
          <p:nvPr/>
        </p:nvSpPr>
        <p:spPr>
          <a:xfrm>
            <a:off x="7908310" y="2713812"/>
            <a:ext cx="16614239" cy="108106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000" dirty="0">
                <a:latin typeface="Poppins"/>
                <a:cs typeface="Poppins"/>
              </a:rPr>
              <a:t>On récupère la consommation électrique de la maison de Julien de manière </a:t>
            </a:r>
            <a:r>
              <a:rPr lang="fr-FR" sz="4000" b="1" dirty="0" err="1">
                <a:latin typeface="Poppins"/>
                <a:cs typeface="Poppins"/>
              </a:rPr>
              <a:t>event</a:t>
            </a:r>
            <a:r>
              <a:rPr lang="fr-FR" sz="4000" b="1" dirty="0">
                <a:latin typeface="Poppins"/>
                <a:cs typeface="Poppins"/>
              </a:rPr>
              <a:t>—</a:t>
            </a:r>
            <a:r>
              <a:rPr lang="fr-FR" sz="4000" b="1" dirty="0" err="1">
                <a:latin typeface="Poppins"/>
                <a:cs typeface="Poppins"/>
              </a:rPr>
              <a:t>driven</a:t>
            </a:r>
            <a:r>
              <a:rPr lang="fr-FR" sz="4000" b="1" dirty="0">
                <a:latin typeface="Poppins"/>
                <a:cs typeface="Poppins"/>
              </a:rPr>
              <a:t> (broker MQTT)</a:t>
            </a:r>
            <a:r>
              <a:rPr lang="fr-FR" sz="4000" dirty="0">
                <a:latin typeface="Poppins"/>
                <a:cs typeface="Poppins"/>
              </a:rPr>
              <a:t>.</a:t>
            </a:r>
          </a:p>
          <a:p>
            <a:endParaRPr lang="fr-FR" sz="4000" dirty="0">
              <a:latin typeface="Poppins"/>
              <a:cs typeface="Poppins"/>
            </a:endParaRPr>
          </a:p>
          <a:p>
            <a:r>
              <a:rPr lang="fr-FR" sz="4000" b="1" dirty="0">
                <a:latin typeface="Poppins"/>
                <a:cs typeface="Poppins"/>
              </a:rPr>
              <a:t>Linky -&gt; Module radio -&gt; Home Assistant -&gt; </a:t>
            </a:r>
            <a:r>
              <a:rPr lang="fr-FR" sz="4000" b="1" dirty="0" err="1">
                <a:latin typeface="Poppins"/>
                <a:cs typeface="Poppins"/>
              </a:rPr>
              <a:t>Kestra</a:t>
            </a:r>
            <a:r>
              <a:rPr lang="fr-FR" sz="4000" b="1" dirty="0">
                <a:latin typeface="Poppins"/>
                <a:cs typeface="Poppins"/>
              </a:rPr>
              <a:t> -&gt; PG</a:t>
            </a:r>
          </a:p>
          <a:p>
            <a:endParaRPr lang="fr-FR" sz="4000" b="1" dirty="0">
              <a:latin typeface="Poppins"/>
              <a:cs typeface="Poppins"/>
            </a:endParaRPr>
          </a:p>
          <a:p>
            <a:r>
              <a:rPr lang="fr-FR" sz="4000" dirty="0">
                <a:latin typeface="Poppins"/>
                <a:cs typeface="Poppins"/>
              </a:rPr>
              <a:t>Les données sont stockées dans notre Data Warehouse (PG orienté </a:t>
            </a:r>
            <a:r>
              <a:rPr lang="fr-FR" sz="4000" dirty="0" err="1">
                <a:latin typeface="Poppins"/>
                <a:cs typeface="Poppins"/>
              </a:rPr>
              <a:t>timeseries</a:t>
            </a:r>
            <a:r>
              <a:rPr lang="fr-FR" sz="4000" dirty="0">
                <a:latin typeface="Poppins"/>
                <a:cs typeface="Poppins"/>
              </a:rPr>
              <a:t>) selon une architecture </a:t>
            </a:r>
            <a:r>
              <a:rPr lang="fr-FR" sz="4000" dirty="0" err="1">
                <a:latin typeface="Poppins"/>
                <a:cs typeface="Poppins"/>
              </a:rPr>
              <a:t>Medallion</a:t>
            </a:r>
            <a:r>
              <a:rPr lang="fr-FR" sz="4000" dirty="0">
                <a:latin typeface="Poppins"/>
                <a:cs typeface="Poppins"/>
              </a:rPr>
              <a:t> : </a:t>
            </a:r>
          </a:p>
          <a:p>
            <a:endParaRPr lang="fr-FR" sz="2000" dirty="0">
              <a:latin typeface="Poppins"/>
              <a:cs typeface="Poppins"/>
            </a:endParaRPr>
          </a:p>
          <a:p>
            <a:pPr marL="571500" indent="-571500">
              <a:lnSpc>
                <a:spcPct val="150000"/>
              </a:lnSpc>
              <a:buFontTx/>
              <a:buChar char="-"/>
            </a:pPr>
            <a:r>
              <a:rPr lang="fr-FR" sz="3600" dirty="0">
                <a:latin typeface="Poppins"/>
                <a:cs typeface="Poppins"/>
              </a:rPr>
              <a:t>Bronze: </a:t>
            </a:r>
            <a:r>
              <a:rPr lang="fr-FR" sz="3200" dirty="0">
                <a:latin typeface="Poppins"/>
                <a:cs typeface="Poppins"/>
              </a:rPr>
              <a:t>Données brutes </a:t>
            </a:r>
            <a:r>
              <a:rPr lang="fr-FR" sz="2800" dirty="0">
                <a:latin typeface="Poppins"/>
                <a:cs typeface="Poppins"/>
              </a:rPr>
              <a:t>(time, </a:t>
            </a:r>
            <a:r>
              <a:rPr lang="fr-FR" sz="2800" dirty="0" err="1">
                <a:latin typeface="Poppins"/>
                <a:cs typeface="Poppins"/>
              </a:rPr>
              <a:t>power_h</a:t>
            </a:r>
            <a:r>
              <a:rPr lang="fr-FR" sz="2800" dirty="0">
                <a:latin typeface="Poppins"/>
                <a:cs typeface="Poppins"/>
              </a:rPr>
              <a:t>, </a:t>
            </a:r>
            <a:r>
              <a:rPr lang="fr-FR" sz="2800" dirty="0" err="1">
                <a:latin typeface="Poppins"/>
                <a:cs typeface="Poppins"/>
              </a:rPr>
              <a:t>energy_wh</a:t>
            </a:r>
            <a:r>
              <a:rPr lang="fr-FR" sz="2800" dirty="0">
                <a:latin typeface="Poppins"/>
                <a:cs typeface="Poppins"/>
              </a:rPr>
              <a:t>, </a:t>
            </a:r>
            <a:r>
              <a:rPr lang="fr-FR" sz="2800" dirty="0" err="1">
                <a:latin typeface="Poppins"/>
                <a:cs typeface="Poppins"/>
              </a:rPr>
              <a:t>meter_id</a:t>
            </a:r>
            <a:r>
              <a:rPr lang="fr-FR" sz="2800" dirty="0">
                <a:latin typeface="Poppins"/>
                <a:cs typeface="Poppins"/>
              </a:rPr>
              <a:t>)</a:t>
            </a:r>
            <a:br>
              <a:rPr lang="fr-FR" sz="2800" dirty="0">
                <a:latin typeface="Poppins"/>
                <a:cs typeface="Poppins"/>
              </a:rPr>
            </a:br>
            <a:r>
              <a:rPr lang="fr-FR" sz="2800" dirty="0">
                <a:latin typeface="Poppins"/>
                <a:cs typeface="Poppins"/>
              </a:rPr>
              <a:t>Une entrée toutes les 10 secondes de la consommation (11/03/2025 8:00 -&gt; 15kWh)</a:t>
            </a:r>
          </a:p>
          <a:p>
            <a:pPr marL="571500" indent="-571500">
              <a:lnSpc>
                <a:spcPct val="150000"/>
              </a:lnSpc>
              <a:buFontTx/>
              <a:buChar char="-"/>
            </a:pPr>
            <a:r>
              <a:rPr lang="fr-FR" sz="3600" dirty="0">
                <a:latin typeface="Poppins"/>
                <a:cs typeface="Poppins"/>
              </a:rPr>
              <a:t>Silver: </a:t>
            </a:r>
            <a:r>
              <a:rPr lang="fr-FR" sz="3200" dirty="0">
                <a:latin typeface="Poppins"/>
                <a:cs typeface="Poppins"/>
              </a:rPr>
              <a:t>Données nettoyées </a:t>
            </a:r>
            <a:r>
              <a:rPr lang="fr-FR" sz="2800" dirty="0">
                <a:latin typeface="Poppins"/>
                <a:cs typeface="Poppins"/>
              </a:rPr>
              <a:t>(time, </a:t>
            </a:r>
            <a:r>
              <a:rPr lang="fr-FR" sz="2800" dirty="0" err="1">
                <a:latin typeface="Poppins"/>
                <a:cs typeface="Poppins"/>
              </a:rPr>
              <a:t>power_w</a:t>
            </a:r>
            <a:r>
              <a:rPr lang="fr-FR" sz="2800" dirty="0">
                <a:latin typeface="Poppins"/>
                <a:cs typeface="Poppins"/>
              </a:rPr>
              <a:t>, </a:t>
            </a:r>
            <a:r>
              <a:rPr lang="fr-FR" sz="2800" dirty="0" err="1">
                <a:latin typeface="Poppins"/>
                <a:cs typeface="Poppins"/>
              </a:rPr>
              <a:t>energy_wh</a:t>
            </a:r>
            <a:r>
              <a:rPr lang="fr-FR" sz="2800" dirty="0">
                <a:latin typeface="Poppins"/>
                <a:cs typeface="Poppins"/>
              </a:rPr>
              <a:t>, </a:t>
            </a:r>
            <a:r>
              <a:rPr lang="fr-FR" sz="2800" dirty="0" err="1">
                <a:latin typeface="Poppins"/>
                <a:cs typeface="Poppins"/>
              </a:rPr>
              <a:t>meter_id</a:t>
            </a:r>
            <a:r>
              <a:rPr lang="fr-FR" sz="2800" dirty="0">
                <a:latin typeface="Poppins"/>
                <a:cs typeface="Poppins"/>
              </a:rPr>
              <a:t>) -&gt; /10s</a:t>
            </a:r>
          </a:p>
          <a:p>
            <a:pPr>
              <a:lnSpc>
                <a:spcPct val="150000"/>
              </a:lnSpc>
            </a:pPr>
            <a:r>
              <a:rPr lang="fr-FR" sz="2800" dirty="0">
                <a:latin typeface="Poppins"/>
                <a:cs typeface="Poppins"/>
              </a:rPr>
              <a:t>       Une entrée toutes les 10 secondes de la consommation (11/03/2025 9:00 -&gt; 17kWh)</a:t>
            </a:r>
          </a:p>
          <a:p>
            <a:pPr marL="571500" indent="-571500">
              <a:lnSpc>
                <a:spcPct val="150000"/>
              </a:lnSpc>
              <a:buFontTx/>
              <a:buChar char="-"/>
            </a:pPr>
            <a:r>
              <a:rPr lang="fr-FR" sz="3600" dirty="0">
                <a:latin typeface="Poppins"/>
                <a:cs typeface="Poppins"/>
              </a:rPr>
              <a:t>Gold: </a:t>
            </a:r>
            <a:r>
              <a:rPr lang="fr-FR" sz="3200" dirty="0">
                <a:latin typeface="Poppins"/>
                <a:cs typeface="Poppins"/>
              </a:rPr>
              <a:t>Données analytiques </a:t>
            </a:r>
            <a:r>
              <a:rPr lang="fr-FR" sz="2800" dirty="0">
                <a:latin typeface="Poppins"/>
                <a:cs typeface="Poppins"/>
              </a:rPr>
              <a:t>(time, </a:t>
            </a:r>
            <a:r>
              <a:rPr lang="fr-FR" sz="2800" dirty="0" err="1">
                <a:latin typeface="Poppins"/>
                <a:cs typeface="Poppins"/>
              </a:rPr>
              <a:t>consumption_kwh</a:t>
            </a:r>
            <a:r>
              <a:rPr lang="fr-FR" sz="2800" dirty="0">
                <a:latin typeface="Poppins"/>
                <a:cs typeface="Poppins"/>
              </a:rPr>
              <a:t>, </a:t>
            </a:r>
            <a:r>
              <a:rPr lang="fr-FR" sz="2800" dirty="0" err="1">
                <a:latin typeface="Poppins"/>
                <a:cs typeface="Poppins"/>
              </a:rPr>
              <a:t>hour</a:t>
            </a:r>
            <a:r>
              <a:rPr lang="fr-FR" sz="2800" dirty="0">
                <a:latin typeface="Poppins"/>
                <a:cs typeface="Poppins"/>
              </a:rPr>
              <a:t>, </a:t>
            </a:r>
            <a:r>
              <a:rPr lang="fr-FR" sz="2800" dirty="0" err="1">
                <a:latin typeface="Poppins"/>
                <a:cs typeface="Poppins"/>
              </a:rPr>
              <a:t>day</a:t>
            </a:r>
            <a:r>
              <a:rPr lang="fr-FR" sz="2800" dirty="0">
                <a:latin typeface="Poppins"/>
                <a:cs typeface="Poppins"/>
              </a:rPr>
              <a:t>, </a:t>
            </a:r>
            <a:r>
              <a:rPr lang="fr-FR" sz="2800" dirty="0" err="1">
                <a:latin typeface="Poppins"/>
                <a:cs typeface="Poppins"/>
              </a:rPr>
              <a:t>week</a:t>
            </a:r>
            <a:r>
              <a:rPr lang="fr-FR" sz="2800" dirty="0">
                <a:latin typeface="Poppins"/>
                <a:cs typeface="Poppins"/>
              </a:rPr>
              <a:t>)</a:t>
            </a:r>
            <a:br>
              <a:rPr lang="fr-FR" sz="2800" dirty="0">
                <a:latin typeface="Poppins"/>
                <a:cs typeface="Poppins"/>
              </a:rPr>
            </a:br>
            <a:r>
              <a:rPr lang="fr-FR" sz="2800" dirty="0">
                <a:latin typeface="Poppins"/>
                <a:cs typeface="Poppins"/>
              </a:rPr>
              <a:t>      Une entrée toutes heures de la consommation (11/03/2025 9:00, </a:t>
            </a:r>
            <a:r>
              <a:rPr lang="fr-FR" sz="2800" dirty="0" err="1">
                <a:latin typeface="Poppins"/>
                <a:cs typeface="Poppins"/>
              </a:rPr>
              <a:t>consumption</a:t>
            </a:r>
            <a:r>
              <a:rPr lang="fr-FR" sz="2800" dirty="0">
                <a:latin typeface="Poppins"/>
                <a:cs typeface="Poppins"/>
              </a:rPr>
              <a:t>: 2kWh)</a:t>
            </a:r>
          </a:p>
          <a:p>
            <a:pPr marL="571500" indent="-571500">
              <a:lnSpc>
                <a:spcPct val="150000"/>
              </a:lnSpc>
              <a:buFontTx/>
              <a:buChar char="-"/>
            </a:pPr>
            <a:endParaRPr lang="fr-FR" sz="1000" b="1" dirty="0"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r>
              <a:rPr lang="fr-FR" sz="3300" b="1" dirty="0">
                <a:latin typeface="Poppins"/>
                <a:cs typeface="Poppins"/>
              </a:rPr>
              <a:t>Nos flux sont sur </a:t>
            </a:r>
            <a:r>
              <a:rPr lang="fr-FR" sz="3300" b="1" dirty="0" err="1">
                <a:latin typeface="Poppins"/>
                <a:cs typeface="Poppins"/>
              </a:rPr>
              <a:t>Kestra</a:t>
            </a:r>
            <a:r>
              <a:rPr lang="fr-FR" sz="3300" b="1" dirty="0">
                <a:latin typeface="Poppins"/>
                <a:cs typeface="Poppins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fr-FR" sz="3200" dirty="0" err="1">
                <a:latin typeface="Poppins"/>
                <a:cs typeface="Poppins"/>
              </a:rPr>
              <a:t>mqtt_linky_ingest</a:t>
            </a:r>
            <a:r>
              <a:rPr lang="fr-FR" sz="3200" dirty="0">
                <a:latin typeface="Poppins"/>
                <a:cs typeface="Poppins"/>
              </a:rPr>
              <a:t> -&gt; </a:t>
            </a:r>
            <a:r>
              <a:rPr lang="fr-FR" sz="3200" dirty="0" err="1">
                <a:latin typeface="Poppins"/>
                <a:cs typeface="Poppins"/>
              </a:rPr>
              <a:t>mqtt_linky_silver</a:t>
            </a:r>
            <a:r>
              <a:rPr lang="fr-FR" sz="3200" dirty="0">
                <a:latin typeface="Poppins"/>
                <a:cs typeface="Poppins"/>
              </a:rPr>
              <a:t> -&gt; </a:t>
            </a:r>
            <a:r>
              <a:rPr lang="fr-FR" sz="3200" dirty="0" err="1">
                <a:latin typeface="Poppins"/>
                <a:cs typeface="Poppins"/>
              </a:rPr>
              <a:t>mqtt_linky_gold</a:t>
            </a:r>
            <a:endParaRPr lang="fr-FR" sz="3200" dirty="0">
              <a:latin typeface="Poppins"/>
              <a:cs typeface="Poppins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B8BD-FB8D-C311-35CB-E10ACC332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CF93A675-8365-55FA-1E71-10549125FF68}"/>
              </a:ext>
            </a:extLst>
          </p:cNvPr>
          <p:cNvSpPr txBox="1"/>
          <p:nvPr/>
        </p:nvSpPr>
        <p:spPr>
          <a:xfrm>
            <a:off x="3167745" y="1087347"/>
            <a:ext cx="13128171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rm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9300" dirty="0"/>
              <a:t>Notre modèle ML</a:t>
            </a:r>
          </a:p>
        </p:txBody>
      </p:sp>
      <p:grpSp>
        <p:nvGrpSpPr>
          <p:cNvPr id="63" name="Groupe 43">
            <a:extLst>
              <a:ext uri="{FF2B5EF4-FFF2-40B4-BE49-F238E27FC236}">
                <a16:creationId xmlns:a16="http://schemas.microsoft.com/office/drawing/2014/main" id="{1AB1F15A-2110-FBBA-D057-00A15C929AFB}"/>
              </a:ext>
            </a:extLst>
          </p:cNvPr>
          <p:cNvGrpSpPr/>
          <p:nvPr/>
        </p:nvGrpSpPr>
        <p:grpSpPr>
          <a:xfrm>
            <a:off x="9208827" y="13081370"/>
            <a:ext cx="15174687" cy="432925"/>
            <a:chOff x="0" y="0"/>
            <a:chExt cx="15174685" cy="432924"/>
          </a:xfrm>
        </p:grpSpPr>
        <p:sp>
          <p:nvSpPr>
            <p:cNvPr id="60" name="Rectangle 44">
              <a:extLst>
                <a:ext uri="{FF2B5EF4-FFF2-40B4-BE49-F238E27FC236}">
                  <a16:creationId xmlns:a16="http://schemas.microsoft.com/office/drawing/2014/main" id="{CBFDB16F-3AF4-4DC8-896B-4DB46ABDC663}"/>
                </a:ext>
              </a:extLst>
            </p:cNvPr>
            <p:cNvSpPr/>
            <p:nvPr/>
          </p:nvSpPr>
          <p:spPr>
            <a:xfrm>
              <a:off x="0" y="-1"/>
              <a:ext cx="5049480" cy="432926"/>
            </a:xfrm>
            <a:prstGeom prst="rect">
              <a:avLst/>
            </a:prstGeom>
            <a:solidFill>
              <a:srgbClr val="BF1238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1" name="Rectangle 45">
              <a:extLst>
                <a:ext uri="{FF2B5EF4-FFF2-40B4-BE49-F238E27FC236}">
                  <a16:creationId xmlns:a16="http://schemas.microsoft.com/office/drawing/2014/main" id="{78A01357-2158-1E2F-B55D-19521FA1EB0B}"/>
                </a:ext>
              </a:extLst>
            </p:cNvPr>
            <p:cNvSpPr/>
            <p:nvPr/>
          </p:nvSpPr>
          <p:spPr>
            <a:xfrm>
              <a:off x="5062117" y="-1"/>
              <a:ext cx="5049480" cy="432926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2" name="Rectangle 46">
              <a:extLst>
                <a:ext uri="{FF2B5EF4-FFF2-40B4-BE49-F238E27FC236}">
                  <a16:creationId xmlns:a16="http://schemas.microsoft.com/office/drawing/2014/main" id="{C31CBA4B-2AE5-7BD7-838D-358915B54538}"/>
                </a:ext>
              </a:extLst>
            </p:cNvPr>
            <p:cNvSpPr/>
            <p:nvPr/>
          </p:nvSpPr>
          <p:spPr>
            <a:xfrm>
              <a:off x="10125206" y="-1"/>
              <a:ext cx="5049480" cy="432926"/>
            </a:xfrm>
            <a:prstGeom prst="rect">
              <a:avLst/>
            </a:prstGeom>
            <a:solidFill>
              <a:srgbClr val="6D504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pic>
        <p:nvPicPr>
          <p:cNvPr id="3" name="Image 2" descr="Une image contenant texte, Police, écriture manuscri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4BD87C77-41B7-43D8-4F72-91B1E1D4C6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43" t="9566" r="3849" b="19023"/>
          <a:stretch>
            <a:fillRect/>
          </a:stretch>
        </p:blipFill>
        <p:spPr>
          <a:xfrm>
            <a:off x="8881771" y="4886207"/>
            <a:ext cx="7914400" cy="2886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EA618F2-C66B-5D0E-3232-62F31F9939E5}"/>
              </a:ext>
            </a:extLst>
          </p:cNvPr>
          <p:cNvSpPr txBox="1"/>
          <p:nvPr/>
        </p:nvSpPr>
        <p:spPr>
          <a:xfrm>
            <a:off x="3106385" y="2980544"/>
            <a:ext cx="20612597" cy="769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400" dirty="0">
                <a:latin typeface="Poppins"/>
                <a:cs typeface="Poppins"/>
              </a:rPr>
              <a:t>Notre modèle se base sur la couche Gold et est exécuté tous les 6h. 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520CD99-BD59-BEC0-B002-9A1DF1006977}"/>
              </a:ext>
            </a:extLst>
          </p:cNvPr>
          <p:cNvSpPr txBox="1"/>
          <p:nvPr/>
        </p:nvSpPr>
        <p:spPr>
          <a:xfrm>
            <a:off x="3167745" y="8565631"/>
            <a:ext cx="21216255" cy="492442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400" b="1" dirty="0">
                <a:latin typeface="Poppins"/>
                <a:cs typeface="Poppins"/>
              </a:rPr>
              <a:t>2 flows (DAG sur </a:t>
            </a:r>
            <a:r>
              <a:rPr lang="fr-FR" sz="4400" b="1" dirty="0" err="1">
                <a:latin typeface="Poppins"/>
                <a:cs typeface="Poppins"/>
              </a:rPr>
              <a:t>Kestra</a:t>
            </a:r>
            <a:r>
              <a:rPr lang="fr-FR" sz="4400" b="1" dirty="0">
                <a:latin typeface="Poppins"/>
                <a:cs typeface="Poppins"/>
              </a:rPr>
              <a:t>):</a:t>
            </a:r>
            <a:endParaRPr lang="fr-FR" sz="3000" b="1" dirty="0">
              <a:latin typeface="Poppins"/>
              <a:cs typeface="Poppins"/>
            </a:endParaRPr>
          </a:p>
          <a:p>
            <a:endParaRPr lang="fr-FR" sz="3000" b="1" dirty="0">
              <a:latin typeface="Poppins"/>
              <a:cs typeface="Poppin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4400" b="1" dirty="0" err="1"/>
              <a:t>mlops_linky_forecast</a:t>
            </a:r>
            <a:r>
              <a:rPr lang="fr-FR" sz="4400" b="1" dirty="0"/>
              <a:t>: Prévision des 3 prochains jours tous les 6 heures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4400" b="1" dirty="0" err="1"/>
              <a:t>mlops_linky_train</a:t>
            </a:r>
            <a:r>
              <a:rPr lang="fr-FR" sz="4400" b="1" dirty="0"/>
              <a:t>: Entrainement de SARIMA toutes les semaines </a:t>
            </a:r>
          </a:p>
          <a:p>
            <a:endParaRPr lang="fr-FR" sz="2000" b="1" dirty="0"/>
          </a:p>
          <a:p>
            <a:r>
              <a:rPr lang="fr-FR" sz="4400" b="1" dirty="0"/>
              <a:t>Compétition des modèles pour training: </a:t>
            </a:r>
            <a:r>
              <a:rPr lang="fr-FR" sz="4400" dirty="0"/>
              <a:t>On utilise plusieurs paramètres (p, d, q / P, D, Q) avec nos données changeantes pour entrainer le meilleur modèle.</a:t>
            </a:r>
          </a:p>
          <a:p>
            <a:endParaRPr lang="fr-FR" sz="4400" b="1" dirty="0"/>
          </a:p>
        </p:txBody>
      </p:sp>
    </p:spTree>
    <p:extLst>
      <p:ext uri="{BB962C8B-B14F-4D97-AF65-F5344CB8AC3E}">
        <p14:creationId xmlns:p14="http://schemas.microsoft.com/office/powerpoint/2010/main" val="3381283810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25096-AA11-7850-7E64-67F251277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521AC9BF-7C02-2E0C-BE0E-CF0D011D31A3}"/>
              </a:ext>
            </a:extLst>
          </p:cNvPr>
          <p:cNvSpPr txBox="1"/>
          <p:nvPr/>
        </p:nvSpPr>
        <p:spPr>
          <a:xfrm>
            <a:off x="3167745" y="1087347"/>
            <a:ext cx="21410219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9300" dirty="0" err="1"/>
              <a:t>MLFlow</a:t>
            </a:r>
            <a:endParaRPr lang="fr-FR" sz="93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8FAAB35-4158-A2C5-FDE0-84D64882385F}"/>
              </a:ext>
            </a:extLst>
          </p:cNvPr>
          <p:cNvSpPr txBox="1"/>
          <p:nvPr/>
        </p:nvSpPr>
        <p:spPr>
          <a:xfrm>
            <a:off x="2963624" y="2900387"/>
            <a:ext cx="11999285" cy="71711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000" b="1" dirty="0">
                <a:latin typeface="Poppins"/>
                <a:cs typeface="Poppins"/>
              </a:rPr>
              <a:t>Lien: </a:t>
            </a:r>
            <a:r>
              <a:rPr lang="fr-FR" sz="4000" dirty="0">
                <a:latin typeface="Poppins"/>
                <a:cs typeface="Poppins"/>
                <a:hlinkClick r:id="rId3"/>
              </a:rPr>
              <a:t>MLFlow</a:t>
            </a:r>
            <a:endParaRPr lang="fr-FR" sz="4000" dirty="0">
              <a:latin typeface="Poppins"/>
              <a:cs typeface="Poppins"/>
            </a:endParaRPr>
          </a:p>
          <a:p>
            <a:endParaRPr lang="fr-FR" sz="2400" dirty="0">
              <a:latin typeface="Poppins"/>
              <a:cs typeface="Poppins"/>
            </a:endParaRPr>
          </a:p>
          <a:p>
            <a:r>
              <a:rPr lang="fr-FR" sz="3600" b="1" dirty="0"/>
              <a:t>1. Performance des prédictions</a:t>
            </a:r>
            <a:endParaRPr lang="fr-FR" sz="3600" dirty="0"/>
          </a:p>
          <a:p>
            <a:r>
              <a:rPr lang="fr-FR" sz="3600" dirty="0"/>
              <a:t>Comparaison : </a:t>
            </a:r>
            <a:r>
              <a:rPr lang="fr-FR" sz="3600" b="1" dirty="0"/>
              <a:t>72h prédites vs 72h réelles</a:t>
            </a:r>
            <a:r>
              <a:rPr lang="fr-FR" sz="3600" dirty="0"/>
              <a:t>.</a:t>
            </a:r>
          </a:p>
          <a:p>
            <a:r>
              <a:rPr lang="fr-FR" sz="3600" dirty="0"/>
              <a:t>Métriques suivies : </a:t>
            </a:r>
            <a:r>
              <a:rPr lang="fr-FR" sz="3600" b="1" dirty="0"/>
              <a:t>MAE, MSE, RMSE, MAPE, </a:t>
            </a:r>
            <a:r>
              <a:rPr lang="fr-FR" sz="3600" b="1" dirty="0" err="1"/>
              <a:t>Coverage</a:t>
            </a:r>
            <a:r>
              <a:rPr lang="fr-FR" sz="3600" b="1" dirty="0"/>
              <a:t> 80%</a:t>
            </a:r>
            <a:r>
              <a:rPr lang="fr-FR" sz="3600" dirty="0"/>
              <a:t>.</a:t>
            </a:r>
          </a:p>
          <a:p>
            <a:endParaRPr lang="fr-FR" sz="3600" dirty="0"/>
          </a:p>
          <a:p>
            <a:r>
              <a:rPr lang="fr-FR" sz="3600" b="1" dirty="0"/>
              <a:t>2. Data Drift (entrées)</a:t>
            </a:r>
            <a:endParaRPr lang="fr-FR" sz="3600" dirty="0"/>
          </a:p>
          <a:p>
            <a:r>
              <a:rPr lang="fr-FR" sz="3600" dirty="0"/>
              <a:t>On compare la distribution des inputs (gold data de consommation) : </a:t>
            </a:r>
            <a:r>
              <a:rPr lang="fr-FR" sz="3600" b="1" dirty="0"/>
              <a:t>[t-42j ; t-21j] vs [t-21j ; </a:t>
            </a:r>
            <a:r>
              <a:rPr lang="fr-FR" sz="3600" b="1" dirty="0" err="1"/>
              <a:t>t</a:t>
            </a:r>
            <a:r>
              <a:rPr lang="fr-FR" sz="3600" b="1" dirty="0"/>
              <a:t>]</a:t>
            </a:r>
            <a:r>
              <a:rPr lang="fr-FR" sz="3600" dirty="0"/>
              <a:t>.</a:t>
            </a:r>
          </a:p>
          <a:p>
            <a:r>
              <a:rPr lang="fr-FR" sz="3600" dirty="0"/>
              <a:t>Méthode : </a:t>
            </a:r>
            <a:r>
              <a:rPr lang="fr-FR" sz="3600" b="1" dirty="0"/>
              <a:t>test de Kolmogorov-Smirnov (KS)</a:t>
            </a:r>
          </a:p>
          <a:p>
            <a:r>
              <a:rPr lang="fr-FR" sz="3600" dirty="0"/>
              <a:t>Objectif : détecter un </a:t>
            </a:r>
            <a:r>
              <a:rPr lang="fr-FR" sz="3600" b="1" dirty="0"/>
              <a:t>changement de comportement des données</a:t>
            </a:r>
            <a:r>
              <a:rPr lang="fr-FR" sz="3600" dirty="0"/>
              <a:t>.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2465D25B-1952-5DE2-272B-A0E58D7F6D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3624" y="11754183"/>
            <a:ext cx="1039367" cy="1039367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5C2AAB08-8329-E44C-959E-F69B9D040D6C}"/>
              </a:ext>
            </a:extLst>
          </p:cNvPr>
          <p:cNvSpPr txBox="1"/>
          <p:nvPr/>
        </p:nvSpPr>
        <p:spPr>
          <a:xfrm>
            <a:off x="4043081" y="11896152"/>
            <a:ext cx="12300154" cy="7078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000" b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Forecast</a:t>
            </a:r>
            <a:r>
              <a:rPr lang="fr-FR" sz="4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fr-FR" sz="4000" b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done</a:t>
            </a:r>
            <a:r>
              <a:rPr lang="fr-FR" sz="4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(ou Data Drift) =&gt; Msg Discord</a:t>
            </a:r>
            <a:endParaRPr lang="fr-FR" sz="4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8" name="Image 17" descr="Une image contenant texte, Appareils électroniques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13787CBC-C885-66F3-68A1-B4BC4AF3C4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0421" y="10657461"/>
            <a:ext cx="3697953" cy="3058539"/>
          </a:xfrm>
          <a:prstGeom prst="rect">
            <a:avLst/>
          </a:prstGeom>
        </p:spPr>
      </p:pic>
      <p:pic>
        <p:nvPicPr>
          <p:cNvPr id="20" name="Image 1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2070B32-FD81-374B-8694-BAD0BB7408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46245" y="76331"/>
            <a:ext cx="8256573" cy="10606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418813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44F3B-F541-1589-233A-95A001C98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AA81BE9F-C2BC-7C48-85D7-AFFAEEC74647}"/>
              </a:ext>
            </a:extLst>
          </p:cNvPr>
          <p:cNvSpPr txBox="1"/>
          <p:nvPr/>
        </p:nvSpPr>
        <p:spPr>
          <a:xfrm>
            <a:off x="2993573" y="1087347"/>
            <a:ext cx="21410219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9300" dirty="0"/>
              <a:t>Stocker le modèle sur un </a:t>
            </a:r>
            <a:r>
              <a:rPr lang="fr-FR" sz="9300" dirty="0" err="1"/>
              <a:t>registry</a:t>
            </a:r>
            <a:r>
              <a:rPr lang="fr-FR" sz="9300" dirty="0"/>
              <a:t> (S3)</a:t>
            </a:r>
          </a:p>
        </p:txBody>
      </p:sp>
      <p:grpSp>
        <p:nvGrpSpPr>
          <p:cNvPr id="63" name="Groupe 43">
            <a:extLst>
              <a:ext uri="{FF2B5EF4-FFF2-40B4-BE49-F238E27FC236}">
                <a16:creationId xmlns:a16="http://schemas.microsoft.com/office/drawing/2014/main" id="{EBE17BA7-639C-6B4C-C9FF-33FD360E749F}"/>
              </a:ext>
            </a:extLst>
          </p:cNvPr>
          <p:cNvGrpSpPr/>
          <p:nvPr/>
        </p:nvGrpSpPr>
        <p:grpSpPr>
          <a:xfrm>
            <a:off x="9209313" y="12705060"/>
            <a:ext cx="15174687" cy="432925"/>
            <a:chOff x="0" y="0"/>
            <a:chExt cx="15174685" cy="432924"/>
          </a:xfrm>
        </p:grpSpPr>
        <p:sp>
          <p:nvSpPr>
            <p:cNvPr id="60" name="Rectangle 44">
              <a:extLst>
                <a:ext uri="{FF2B5EF4-FFF2-40B4-BE49-F238E27FC236}">
                  <a16:creationId xmlns:a16="http://schemas.microsoft.com/office/drawing/2014/main" id="{3A268D50-C52E-C706-8BB0-0DE2EA81D89F}"/>
                </a:ext>
              </a:extLst>
            </p:cNvPr>
            <p:cNvSpPr/>
            <p:nvPr/>
          </p:nvSpPr>
          <p:spPr>
            <a:xfrm>
              <a:off x="0" y="-1"/>
              <a:ext cx="5049480" cy="432926"/>
            </a:xfrm>
            <a:prstGeom prst="rect">
              <a:avLst/>
            </a:prstGeom>
            <a:solidFill>
              <a:srgbClr val="BF1238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1" name="Rectangle 45">
              <a:extLst>
                <a:ext uri="{FF2B5EF4-FFF2-40B4-BE49-F238E27FC236}">
                  <a16:creationId xmlns:a16="http://schemas.microsoft.com/office/drawing/2014/main" id="{427DC79C-E700-B089-2BF7-0366F4D6F472}"/>
                </a:ext>
              </a:extLst>
            </p:cNvPr>
            <p:cNvSpPr/>
            <p:nvPr/>
          </p:nvSpPr>
          <p:spPr>
            <a:xfrm>
              <a:off x="5062117" y="-1"/>
              <a:ext cx="5049480" cy="432926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2" name="Rectangle 46">
              <a:extLst>
                <a:ext uri="{FF2B5EF4-FFF2-40B4-BE49-F238E27FC236}">
                  <a16:creationId xmlns:a16="http://schemas.microsoft.com/office/drawing/2014/main" id="{9FE0A152-D9B9-11BD-21EA-6992E1E23761}"/>
                </a:ext>
              </a:extLst>
            </p:cNvPr>
            <p:cNvSpPr/>
            <p:nvPr/>
          </p:nvSpPr>
          <p:spPr>
            <a:xfrm>
              <a:off x="10125206" y="-1"/>
              <a:ext cx="5049480" cy="432926"/>
            </a:xfrm>
            <a:prstGeom prst="rect">
              <a:avLst/>
            </a:prstGeom>
            <a:solidFill>
              <a:srgbClr val="6D504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3" name="ZoneTexte 2">
            <a:extLst>
              <a:ext uri="{FF2B5EF4-FFF2-40B4-BE49-F238E27FC236}">
                <a16:creationId xmlns:a16="http://schemas.microsoft.com/office/drawing/2014/main" id="{EB383FBB-48C8-A6D4-7E0D-0B7515B19436}"/>
              </a:ext>
            </a:extLst>
          </p:cNvPr>
          <p:cNvSpPr txBox="1"/>
          <p:nvPr/>
        </p:nvSpPr>
        <p:spPr>
          <a:xfrm>
            <a:off x="3013364" y="3072348"/>
            <a:ext cx="21390428" cy="62478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000" dirty="0">
                <a:latin typeface="Poppins"/>
                <a:cs typeface="Poppins"/>
              </a:rPr>
              <a:t>Après chaque training, le modèle est stocké </a:t>
            </a:r>
            <a:r>
              <a:rPr lang="fr-FR" sz="4000" b="1" dirty="0">
                <a:latin typeface="Poppins"/>
                <a:cs typeface="Poppins"/>
              </a:rPr>
              <a:t>sous format .pickle dans le S3 Garage de Julien</a:t>
            </a:r>
            <a:r>
              <a:rPr lang="fr-FR" sz="4000" dirty="0">
                <a:latin typeface="Poppins"/>
                <a:cs typeface="Poppins"/>
              </a:rPr>
              <a:t>.</a:t>
            </a:r>
          </a:p>
          <a:p>
            <a:endParaRPr lang="fr-FR" sz="4000" dirty="0">
              <a:latin typeface="Poppins"/>
              <a:cs typeface="Poppins"/>
            </a:endParaRPr>
          </a:p>
          <a:p>
            <a:r>
              <a:rPr lang="fr-FR" sz="4000" dirty="0">
                <a:latin typeface="Poppins"/>
                <a:cs typeface="Poppins"/>
              </a:rPr>
              <a:t>Format: s3://705/</a:t>
            </a:r>
            <a:r>
              <a:rPr lang="fr-FR" sz="4000" dirty="0" err="1">
                <a:latin typeface="Poppins"/>
                <a:cs typeface="Poppins"/>
              </a:rPr>
              <a:t>mlops</a:t>
            </a:r>
            <a:r>
              <a:rPr lang="fr-FR" sz="4000" dirty="0">
                <a:latin typeface="Poppins"/>
                <a:cs typeface="Poppins"/>
              </a:rPr>
              <a:t>/linky-sarima-705/&lt;YYYYMMDDHH&gt;/</a:t>
            </a:r>
            <a:r>
              <a:rPr lang="fr-FR" sz="4000" dirty="0" err="1">
                <a:latin typeface="Poppins"/>
                <a:cs typeface="Poppins"/>
              </a:rPr>
              <a:t>model.pkl</a:t>
            </a:r>
            <a:endParaRPr lang="fr-FR" sz="4000" dirty="0">
              <a:latin typeface="Poppins"/>
              <a:cs typeface="Poppins"/>
            </a:endParaRPr>
          </a:p>
          <a:p>
            <a:endParaRPr lang="fr-FR" sz="4000" dirty="0">
              <a:latin typeface="Poppins"/>
              <a:cs typeface="Poppins"/>
            </a:endParaRPr>
          </a:p>
          <a:p>
            <a:r>
              <a:rPr lang="fr-FR" sz="4000" dirty="0">
                <a:latin typeface="Poppins" pitchFamily="2" charset="77"/>
                <a:cs typeface="Poppins" pitchFamily="2" charset="77"/>
              </a:rPr>
              <a:t>Lien Garage Endpoint : http://s3fast.lafrance.io</a:t>
            </a:r>
          </a:p>
          <a:p>
            <a:r>
              <a:rPr lang="fr-FR" sz="4000" dirty="0" err="1">
                <a:latin typeface="Poppins" pitchFamily="2" charset="77"/>
                <a:cs typeface="Poppins" pitchFamily="2" charset="77"/>
              </a:rPr>
              <a:t>Bucket</a:t>
            </a:r>
            <a:r>
              <a:rPr lang="fr-FR" sz="4000" dirty="0">
                <a:latin typeface="Poppins" pitchFamily="2" charset="77"/>
                <a:cs typeface="Poppins" pitchFamily="2" charset="77"/>
              </a:rPr>
              <a:t> : 705</a:t>
            </a:r>
          </a:p>
          <a:p>
            <a:endParaRPr lang="fr-FR" sz="4000" dirty="0">
              <a:latin typeface="Poppins" pitchFamily="2" charset="77"/>
              <a:cs typeface="Poppins" pitchFamily="2" charset="77"/>
            </a:endParaRPr>
          </a:p>
          <a:p>
            <a:r>
              <a:rPr lang="fr-FR" sz="4000" b="1" dirty="0">
                <a:latin typeface="Poppins" pitchFamily="2" charset="77"/>
                <a:cs typeface="Poppins" pitchFamily="2" charset="77"/>
              </a:rPr>
              <a:t>Pour chaque utilisation, </a:t>
            </a:r>
            <a:r>
              <a:rPr lang="fr-FR" sz="4000" dirty="0">
                <a:latin typeface="Poppins" pitchFamily="2" charset="77"/>
                <a:cs typeface="Poppins" pitchFamily="2" charset="77"/>
              </a:rPr>
              <a:t>on va récupérer le modèle directement sur le S3.</a:t>
            </a:r>
            <a:endParaRPr lang="fr-FR" sz="4000" b="1" dirty="0">
              <a:latin typeface="Poppins" pitchFamily="2" charset="77"/>
              <a:cs typeface="Poppins" pitchFamily="2" charset="77"/>
            </a:endParaRPr>
          </a:p>
          <a:p>
            <a:endParaRPr lang="fr-FR" sz="4000" dirty="0"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F5CB66E-9200-3E43-A41C-D5B3165E93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3573" y="9824234"/>
            <a:ext cx="21122433" cy="1806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084069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4B65D-FA1B-0F7D-4D7C-FD32F14E6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1713FD7C-38F4-3ED2-89D2-D0D247829995}"/>
              </a:ext>
            </a:extLst>
          </p:cNvPr>
          <p:cNvSpPr txBox="1"/>
          <p:nvPr/>
        </p:nvSpPr>
        <p:spPr>
          <a:xfrm>
            <a:off x="3167745" y="1087347"/>
            <a:ext cx="21410219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9300" dirty="0"/>
              <a:t>API - </a:t>
            </a:r>
            <a:r>
              <a:rPr lang="fr-FR" sz="9300" dirty="0" err="1"/>
              <a:t>FastAPI</a:t>
            </a:r>
            <a:endParaRPr lang="fr-FR" sz="9300" dirty="0"/>
          </a:p>
        </p:txBody>
      </p:sp>
      <p:grpSp>
        <p:nvGrpSpPr>
          <p:cNvPr id="63" name="Groupe 43">
            <a:extLst>
              <a:ext uri="{FF2B5EF4-FFF2-40B4-BE49-F238E27FC236}">
                <a16:creationId xmlns:a16="http://schemas.microsoft.com/office/drawing/2014/main" id="{3F847EAE-32BD-3486-7026-97A33989FE0F}"/>
              </a:ext>
            </a:extLst>
          </p:cNvPr>
          <p:cNvGrpSpPr/>
          <p:nvPr/>
        </p:nvGrpSpPr>
        <p:grpSpPr>
          <a:xfrm>
            <a:off x="9209313" y="12705060"/>
            <a:ext cx="15174687" cy="432925"/>
            <a:chOff x="0" y="0"/>
            <a:chExt cx="15174685" cy="432924"/>
          </a:xfrm>
        </p:grpSpPr>
        <p:sp>
          <p:nvSpPr>
            <p:cNvPr id="60" name="Rectangle 44">
              <a:extLst>
                <a:ext uri="{FF2B5EF4-FFF2-40B4-BE49-F238E27FC236}">
                  <a16:creationId xmlns:a16="http://schemas.microsoft.com/office/drawing/2014/main" id="{33652573-B49B-9B24-A12B-18D58E91A8D5}"/>
                </a:ext>
              </a:extLst>
            </p:cNvPr>
            <p:cNvSpPr/>
            <p:nvPr/>
          </p:nvSpPr>
          <p:spPr>
            <a:xfrm>
              <a:off x="0" y="-1"/>
              <a:ext cx="5049480" cy="432926"/>
            </a:xfrm>
            <a:prstGeom prst="rect">
              <a:avLst/>
            </a:prstGeom>
            <a:solidFill>
              <a:srgbClr val="BF1238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1" name="Rectangle 45">
              <a:extLst>
                <a:ext uri="{FF2B5EF4-FFF2-40B4-BE49-F238E27FC236}">
                  <a16:creationId xmlns:a16="http://schemas.microsoft.com/office/drawing/2014/main" id="{BE4832B9-3373-199E-F478-3825BDE12184}"/>
                </a:ext>
              </a:extLst>
            </p:cNvPr>
            <p:cNvSpPr/>
            <p:nvPr/>
          </p:nvSpPr>
          <p:spPr>
            <a:xfrm>
              <a:off x="5062117" y="-1"/>
              <a:ext cx="5049480" cy="432926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2" name="Rectangle 46">
              <a:extLst>
                <a:ext uri="{FF2B5EF4-FFF2-40B4-BE49-F238E27FC236}">
                  <a16:creationId xmlns:a16="http://schemas.microsoft.com/office/drawing/2014/main" id="{DB26B6FB-9901-1E24-ACE0-E5346CCD3E34}"/>
                </a:ext>
              </a:extLst>
            </p:cNvPr>
            <p:cNvSpPr/>
            <p:nvPr/>
          </p:nvSpPr>
          <p:spPr>
            <a:xfrm>
              <a:off x="10125206" y="-1"/>
              <a:ext cx="5049480" cy="432926"/>
            </a:xfrm>
            <a:prstGeom prst="rect">
              <a:avLst/>
            </a:prstGeom>
            <a:solidFill>
              <a:srgbClr val="6D504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3" name="ZoneTexte 2">
            <a:extLst>
              <a:ext uri="{FF2B5EF4-FFF2-40B4-BE49-F238E27FC236}">
                <a16:creationId xmlns:a16="http://schemas.microsoft.com/office/drawing/2014/main" id="{D8D52F69-46CC-6613-BA6C-A4F25889030C}"/>
              </a:ext>
            </a:extLst>
          </p:cNvPr>
          <p:cNvSpPr txBox="1"/>
          <p:nvPr/>
        </p:nvSpPr>
        <p:spPr>
          <a:xfrm>
            <a:off x="2979175" y="2814629"/>
            <a:ext cx="13833987" cy="938718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000" b="1" dirty="0">
                <a:latin typeface="Poppins"/>
                <a:cs typeface="Poppins"/>
              </a:rPr>
              <a:t>Lien: </a:t>
            </a:r>
            <a:r>
              <a:rPr lang="fr-FR" sz="4000" dirty="0">
                <a:latin typeface="Poppins"/>
                <a:cs typeface="Poppins"/>
                <a:hlinkClick r:id="rId3"/>
              </a:rPr>
              <a:t>Fast API DEV</a:t>
            </a:r>
            <a:r>
              <a:rPr lang="fr-FR" sz="4000" dirty="0">
                <a:latin typeface="Poppins"/>
                <a:cs typeface="Poppins"/>
              </a:rPr>
              <a:t> </a:t>
            </a:r>
            <a:r>
              <a:rPr lang="fr-FR" sz="4000" dirty="0">
                <a:latin typeface="Poppins"/>
                <a:cs typeface="Poppins"/>
                <a:hlinkClick r:id="rId4"/>
              </a:rPr>
              <a:t>Fast API PRD</a:t>
            </a:r>
            <a:endParaRPr lang="fr-FR" sz="4000" dirty="0">
              <a:latin typeface="Poppins"/>
              <a:cs typeface="Poppins"/>
            </a:endParaRPr>
          </a:p>
          <a:p>
            <a:endParaRPr lang="fr-FR" sz="4000" dirty="0">
              <a:latin typeface="Poppins"/>
              <a:cs typeface="Poppins"/>
            </a:endParaRPr>
          </a:p>
          <a:p>
            <a:r>
              <a:rPr lang="fr-FR" sz="4000" dirty="0">
                <a:latin typeface="Poppins"/>
                <a:cs typeface="Poppins"/>
              </a:rPr>
              <a:t>Objectif : </a:t>
            </a:r>
            <a:r>
              <a:rPr lang="fr-FR" sz="4000" b="1" dirty="0">
                <a:latin typeface="Poppins"/>
                <a:cs typeface="Poppins"/>
              </a:rPr>
              <a:t>permettre de récupérer les prévisions via requêtes HTTP</a:t>
            </a:r>
            <a:br>
              <a:rPr lang="fr-FR" sz="4000" b="1" dirty="0">
                <a:latin typeface="Poppins"/>
                <a:cs typeface="Poppins"/>
              </a:rPr>
            </a:br>
            <a:endParaRPr lang="fr-FR" sz="4000" b="1" dirty="0">
              <a:latin typeface="Poppins"/>
              <a:cs typeface="Poppins"/>
            </a:endParaRPr>
          </a:p>
          <a:p>
            <a:r>
              <a:rPr lang="fr-FR" sz="4000" dirty="0" err="1">
                <a:latin typeface="Poppins"/>
                <a:cs typeface="Poppins"/>
              </a:rPr>
              <a:t>Endpoints</a:t>
            </a:r>
            <a:r>
              <a:rPr lang="fr-FR" sz="4000" dirty="0">
                <a:latin typeface="Poppins"/>
                <a:cs typeface="Poppins"/>
              </a:rPr>
              <a:t> disponibles :</a:t>
            </a:r>
            <a:br>
              <a:rPr lang="fr-FR" sz="4000" b="1" dirty="0">
                <a:latin typeface="Poppins"/>
                <a:cs typeface="Poppins"/>
              </a:rPr>
            </a:br>
            <a:r>
              <a:rPr lang="fr-FR" sz="4000" b="1" dirty="0">
                <a:latin typeface="Poppins"/>
                <a:cs typeface="Poppins"/>
              </a:rPr>
              <a:t>- /</a:t>
            </a:r>
            <a:r>
              <a:rPr lang="fr-FR" sz="4000" b="1" dirty="0" err="1">
                <a:latin typeface="Poppins"/>
                <a:cs typeface="Poppins"/>
              </a:rPr>
              <a:t>health</a:t>
            </a:r>
            <a:r>
              <a:rPr lang="fr-FR" sz="4000" b="1" dirty="0">
                <a:latin typeface="Poppins"/>
                <a:cs typeface="Poppins"/>
              </a:rPr>
              <a:t>: </a:t>
            </a:r>
            <a:r>
              <a:rPr lang="fr-FR" sz="4000" dirty="0">
                <a:latin typeface="Poppins"/>
                <a:cs typeface="Poppins"/>
              </a:rPr>
              <a:t>Vérifie</a:t>
            </a:r>
            <a:r>
              <a:rPr lang="fr-FR" sz="4000" b="1" dirty="0">
                <a:latin typeface="Poppins"/>
                <a:cs typeface="Poppins"/>
              </a:rPr>
              <a:t> </a:t>
            </a:r>
            <a:r>
              <a:rPr lang="fr-FR" sz="4000" dirty="0">
                <a:latin typeface="Poppins"/>
                <a:cs typeface="Poppins"/>
              </a:rPr>
              <a:t>si l’API est UP / opérationnelle</a:t>
            </a:r>
          </a:p>
          <a:p>
            <a:br>
              <a:rPr lang="fr-FR" sz="4000" b="1" dirty="0">
                <a:latin typeface="Poppins"/>
                <a:cs typeface="Poppins"/>
              </a:rPr>
            </a:br>
            <a:r>
              <a:rPr lang="fr-FR" sz="4000" b="1" dirty="0">
                <a:latin typeface="Poppins"/>
                <a:cs typeface="Poppins"/>
              </a:rPr>
              <a:t>- /</a:t>
            </a:r>
            <a:r>
              <a:rPr lang="fr-FR" sz="4000" b="1" dirty="0" err="1">
                <a:latin typeface="Poppins"/>
                <a:cs typeface="Poppins"/>
              </a:rPr>
              <a:t>forecast</a:t>
            </a:r>
            <a:r>
              <a:rPr lang="fr-FR" sz="4000" b="1" dirty="0">
                <a:latin typeface="Poppins"/>
                <a:cs typeface="Poppins"/>
              </a:rPr>
              <a:t>/</a:t>
            </a:r>
            <a:r>
              <a:rPr lang="fr-FR" sz="4000" b="1" dirty="0" err="1">
                <a:latin typeface="Poppins"/>
                <a:cs typeface="Poppins"/>
              </a:rPr>
              <a:t>consumption</a:t>
            </a:r>
            <a:endParaRPr lang="fr-FR" sz="4000" b="1" dirty="0">
              <a:latin typeface="Poppins"/>
              <a:cs typeface="Poppins"/>
            </a:endParaRPr>
          </a:p>
          <a:p>
            <a:r>
              <a:rPr lang="fr-FR" sz="3600" dirty="0">
                <a:latin typeface="Poppins"/>
                <a:cs typeface="Poppins"/>
              </a:rPr>
              <a:t>Input : date au format YYYY-MM-DD</a:t>
            </a:r>
          </a:p>
          <a:p>
            <a:r>
              <a:rPr lang="fr-FR" sz="3600" dirty="0">
                <a:latin typeface="Poppins"/>
                <a:cs typeface="Poppins"/>
              </a:rPr>
              <a:t>Output : JSON avec prédictions horaires de consommation</a:t>
            </a:r>
          </a:p>
          <a:p>
            <a:r>
              <a:rPr lang="fr-FR" sz="3600" dirty="0">
                <a:latin typeface="Poppins"/>
                <a:cs typeface="Poppins"/>
              </a:rPr>
              <a:t>Pour chaque heure 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dirty="0" err="1">
                <a:latin typeface="Poppins"/>
                <a:cs typeface="Poppins"/>
              </a:rPr>
              <a:t>hour</a:t>
            </a:r>
            <a:r>
              <a:rPr lang="fr-FR" sz="3200" dirty="0">
                <a:latin typeface="Poppins"/>
                <a:cs typeface="Poppins"/>
              </a:rPr>
              <a:t> : heure correspondante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dirty="0" err="1">
                <a:latin typeface="Poppins"/>
                <a:cs typeface="Poppins"/>
              </a:rPr>
              <a:t>predicted</a:t>
            </a:r>
            <a:r>
              <a:rPr lang="fr-FR" sz="3200" dirty="0">
                <a:latin typeface="Poppins"/>
                <a:cs typeface="Poppins"/>
              </a:rPr>
              <a:t> : consommation prédite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dirty="0" err="1">
                <a:latin typeface="Poppins"/>
                <a:cs typeface="Poppins"/>
              </a:rPr>
              <a:t>lower</a:t>
            </a:r>
            <a:r>
              <a:rPr lang="fr-FR" sz="3200" dirty="0">
                <a:latin typeface="Poppins"/>
                <a:cs typeface="Poppins"/>
              </a:rPr>
              <a:t> : borne basse de l’intervalle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dirty="0" err="1">
                <a:latin typeface="Poppins"/>
                <a:cs typeface="Poppins"/>
              </a:rPr>
              <a:t>upper</a:t>
            </a:r>
            <a:r>
              <a:rPr lang="fr-FR" sz="3200" dirty="0">
                <a:latin typeface="Poppins"/>
                <a:cs typeface="Poppins"/>
              </a:rPr>
              <a:t> : borne haute de l’intervalle</a:t>
            </a:r>
          </a:p>
        </p:txBody>
      </p:sp>
      <p:pic>
        <p:nvPicPr>
          <p:cNvPr id="5" name="Image 4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FC2F2161-0B73-D8CF-E73A-21B96AD5CE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0398" y="578014"/>
            <a:ext cx="7213601" cy="32951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3BD806F-74EB-3F12-443D-DFAE39CE41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0398" y="3699918"/>
            <a:ext cx="6489700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22531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BE6EB-F80D-ED66-B356-9626DDE7A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71FD2D08-611C-0B18-B988-D7F1464FEB00}"/>
              </a:ext>
            </a:extLst>
          </p:cNvPr>
          <p:cNvSpPr txBox="1"/>
          <p:nvPr/>
        </p:nvSpPr>
        <p:spPr>
          <a:xfrm>
            <a:off x="3167745" y="1087347"/>
            <a:ext cx="21410219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9300" dirty="0" err="1"/>
              <a:t>WebApp</a:t>
            </a:r>
            <a:r>
              <a:rPr lang="fr-FR" sz="9300" dirty="0"/>
              <a:t> - </a:t>
            </a:r>
            <a:r>
              <a:rPr lang="fr-FR" sz="9300" dirty="0" err="1"/>
              <a:t>Streamlit</a:t>
            </a:r>
            <a:endParaRPr lang="fr-FR" sz="9300" dirty="0"/>
          </a:p>
        </p:txBody>
      </p:sp>
      <p:grpSp>
        <p:nvGrpSpPr>
          <p:cNvPr id="63" name="Groupe 43">
            <a:extLst>
              <a:ext uri="{FF2B5EF4-FFF2-40B4-BE49-F238E27FC236}">
                <a16:creationId xmlns:a16="http://schemas.microsoft.com/office/drawing/2014/main" id="{3C295F5E-2A20-AB11-7703-2CE449F86918}"/>
              </a:ext>
            </a:extLst>
          </p:cNvPr>
          <p:cNvGrpSpPr/>
          <p:nvPr/>
        </p:nvGrpSpPr>
        <p:grpSpPr>
          <a:xfrm>
            <a:off x="9209313" y="12921522"/>
            <a:ext cx="15174687" cy="432925"/>
            <a:chOff x="0" y="0"/>
            <a:chExt cx="15174685" cy="432924"/>
          </a:xfrm>
        </p:grpSpPr>
        <p:sp>
          <p:nvSpPr>
            <p:cNvPr id="60" name="Rectangle 44">
              <a:extLst>
                <a:ext uri="{FF2B5EF4-FFF2-40B4-BE49-F238E27FC236}">
                  <a16:creationId xmlns:a16="http://schemas.microsoft.com/office/drawing/2014/main" id="{B517F3E3-A352-2EB2-76C9-7C7EE971DC7C}"/>
                </a:ext>
              </a:extLst>
            </p:cNvPr>
            <p:cNvSpPr/>
            <p:nvPr/>
          </p:nvSpPr>
          <p:spPr>
            <a:xfrm>
              <a:off x="0" y="-1"/>
              <a:ext cx="5049480" cy="432926"/>
            </a:xfrm>
            <a:prstGeom prst="rect">
              <a:avLst/>
            </a:prstGeom>
            <a:solidFill>
              <a:srgbClr val="BF1238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1" name="Rectangle 45">
              <a:extLst>
                <a:ext uri="{FF2B5EF4-FFF2-40B4-BE49-F238E27FC236}">
                  <a16:creationId xmlns:a16="http://schemas.microsoft.com/office/drawing/2014/main" id="{6CE8FE3F-0913-17FC-7969-1C8439DCF451}"/>
                </a:ext>
              </a:extLst>
            </p:cNvPr>
            <p:cNvSpPr/>
            <p:nvPr/>
          </p:nvSpPr>
          <p:spPr>
            <a:xfrm>
              <a:off x="5062117" y="-1"/>
              <a:ext cx="5049480" cy="432926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2" name="Rectangle 46">
              <a:extLst>
                <a:ext uri="{FF2B5EF4-FFF2-40B4-BE49-F238E27FC236}">
                  <a16:creationId xmlns:a16="http://schemas.microsoft.com/office/drawing/2014/main" id="{5D8942FD-1981-41F8-6B56-A90B8B8C1F32}"/>
                </a:ext>
              </a:extLst>
            </p:cNvPr>
            <p:cNvSpPr/>
            <p:nvPr/>
          </p:nvSpPr>
          <p:spPr>
            <a:xfrm>
              <a:off x="10125206" y="-1"/>
              <a:ext cx="5049480" cy="432926"/>
            </a:xfrm>
            <a:prstGeom prst="rect">
              <a:avLst/>
            </a:prstGeom>
            <a:solidFill>
              <a:srgbClr val="6D504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pic>
        <p:nvPicPr>
          <p:cNvPr id="3" name="Image 2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3ADBC387-A641-CE62-CF85-31CC67E251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7745" y="4153279"/>
            <a:ext cx="10739151" cy="8768243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D351A24-0858-5376-7F6C-874AEF8EFA32}"/>
              </a:ext>
            </a:extLst>
          </p:cNvPr>
          <p:cNvSpPr txBox="1"/>
          <p:nvPr/>
        </p:nvSpPr>
        <p:spPr>
          <a:xfrm>
            <a:off x="14851626" y="5839794"/>
            <a:ext cx="7890387" cy="31393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6600" b="1" dirty="0">
                <a:latin typeface="Poppins"/>
                <a:cs typeface="Poppins"/>
              </a:rPr>
              <a:t>Permettre de visualiser nos prévisions </a:t>
            </a:r>
            <a:endParaRPr lang="fr-FR" sz="6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D71B3C7-B565-CAEF-BF33-18D8B393DCB5}"/>
              </a:ext>
            </a:extLst>
          </p:cNvPr>
          <p:cNvSpPr txBox="1"/>
          <p:nvPr/>
        </p:nvSpPr>
        <p:spPr>
          <a:xfrm>
            <a:off x="3167745" y="2806762"/>
            <a:ext cx="12300154" cy="7078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000" b="1" dirty="0">
                <a:latin typeface="Poppins"/>
                <a:cs typeface="Poppins"/>
              </a:rPr>
              <a:t>Lien: </a:t>
            </a:r>
            <a:r>
              <a:rPr lang="fr-FR" sz="4000" dirty="0">
                <a:latin typeface="Poppins"/>
                <a:cs typeface="Poppins"/>
                <a:hlinkClick r:id="rId4"/>
              </a:rPr>
              <a:t>Streamlit DEV</a:t>
            </a:r>
            <a:r>
              <a:rPr lang="fr-FR" sz="4000" dirty="0">
                <a:latin typeface="Poppins"/>
                <a:cs typeface="Poppins"/>
              </a:rPr>
              <a:t> </a:t>
            </a:r>
            <a:r>
              <a:rPr lang="fr-FR" sz="4000" dirty="0">
                <a:latin typeface="Poppins"/>
                <a:cs typeface="Poppins"/>
                <a:hlinkClick r:id="rId5"/>
              </a:rPr>
              <a:t>Streamlit PRD</a:t>
            </a:r>
            <a:endParaRPr lang="fr-FR" sz="4000" dirty="0"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74558986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16AEC-1792-CC3A-D130-AD96D1E91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86AE8532-A2AE-47D4-5B40-6986DC7C794F}"/>
              </a:ext>
            </a:extLst>
          </p:cNvPr>
          <p:cNvSpPr txBox="1"/>
          <p:nvPr/>
        </p:nvSpPr>
        <p:spPr>
          <a:xfrm>
            <a:off x="3167745" y="1087347"/>
            <a:ext cx="21410219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dirty="0"/>
              <a:t>CI / CD / CT</a:t>
            </a:r>
            <a:endParaRPr lang="fr-FR" sz="9300" dirty="0"/>
          </a:p>
        </p:txBody>
      </p:sp>
      <p:grpSp>
        <p:nvGrpSpPr>
          <p:cNvPr id="63" name="Groupe 43">
            <a:extLst>
              <a:ext uri="{FF2B5EF4-FFF2-40B4-BE49-F238E27FC236}">
                <a16:creationId xmlns:a16="http://schemas.microsoft.com/office/drawing/2014/main" id="{E5259D4D-2728-EC45-3511-EAEA9F1EDECA}"/>
              </a:ext>
            </a:extLst>
          </p:cNvPr>
          <p:cNvGrpSpPr/>
          <p:nvPr/>
        </p:nvGrpSpPr>
        <p:grpSpPr>
          <a:xfrm>
            <a:off x="9209313" y="12921522"/>
            <a:ext cx="15174687" cy="432925"/>
            <a:chOff x="0" y="0"/>
            <a:chExt cx="15174685" cy="432924"/>
          </a:xfrm>
        </p:grpSpPr>
        <p:sp>
          <p:nvSpPr>
            <p:cNvPr id="60" name="Rectangle 44">
              <a:extLst>
                <a:ext uri="{FF2B5EF4-FFF2-40B4-BE49-F238E27FC236}">
                  <a16:creationId xmlns:a16="http://schemas.microsoft.com/office/drawing/2014/main" id="{4C60F14D-92A3-286D-E093-7F6D8357B7F6}"/>
                </a:ext>
              </a:extLst>
            </p:cNvPr>
            <p:cNvSpPr/>
            <p:nvPr/>
          </p:nvSpPr>
          <p:spPr>
            <a:xfrm>
              <a:off x="0" y="-1"/>
              <a:ext cx="5049480" cy="432926"/>
            </a:xfrm>
            <a:prstGeom prst="rect">
              <a:avLst/>
            </a:prstGeom>
            <a:solidFill>
              <a:srgbClr val="BF1238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1" name="Rectangle 45">
              <a:extLst>
                <a:ext uri="{FF2B5EF4-FFF2-40B4-BE49-F238E27FC236}">
                  <a16:creationId xmlns:a16="http://schemas.microsoft.com/office/drawing/2014/main" id="{58FFD4BD-23D4-0039-0872-CE7F256AEDB4}"/>
                </a:ext>
              </a:extLst>
            </p:cNvPr>
            <p:cNvSpPr/>
            <p:nvPr/>
          </p:nvSpPr>
          <p:spPr>
            <a:xfrm>
              <a:off x="5062117" y="-1"/>
              <a:ext cx="5049480" cy="432926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2" name="Rectangle 46">
              <a:extLst>
                <a:ext uri="{FF2B5EF4-FFF2-40B4-BE49-F238E27FC236}">
                  <a16:creationId xmlns:a16="http://schemas.microsoft.com/office/drawing/2014/main" id="{431B8216-39C4-3F71-F828-4637D8A3E5CE}"/>
                </a:ext>
              </a:extLst>
            </p:cNvPr>
            <p:cNvSpPr/>
            <p:nvPr/>
          </p:nvSpPr>
          <p:spPr>
            <a:xfrm>
              <a:off x="10125206" y="-1"/>
              <a:ext cx="5049480" cy="432926"/>
            </a:xfrm>
            <a:prstGeom prst="rect">
              <a:avLst/>
            </a:prstGeom>
            <a:solidFill>
              <a:srgbClr val="6D504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4" name="ZoneTexte 3">
            <a:extLst>
              <a:ext uri="{FF2B5EF4-FFF2-40B4-BE49-F238E27FC236}">
                <a16:creationId xmlns:a16="http://schemas.microsoft.com/office/drawing/2014/main" id="{DFF84CA8-E880-65B6-BBFA-491F76ADD7BA}"/>
              </a:ext>
            </a:extLst>
          </p:cNvPr>
          <p:cNvSpPr txBox="1"/>
          <p:nvPr/>
        </p:nvSpPr>
        <p:spPr>
          <a:xfrm>
            <a:off x="3167745" y="3814141"/>
            <a:ext cx="14294345" cy="754052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400" b="1" dirty="0" err="1"/>
              <a:t>Continuous</a:t>
            </a:r>
            <a:r>
              <a:rPr lang="fr-FR" sz="4400" b="1" dirty="0"/>
              <a:t> </a:t>
            </a:r>
            <a:r>
              <a:rPr lang="fr-FR" sz="4400" b="1" dirty="0" err="1"/>
              <a:t>Integration</a:t>
            </a:r>
            <a:r>
              <a:rPr lang="fr-FR" sz="4400" b="1" dirty="0"/>
              <a:t>: </a:t>
            </a:r>
            <a:r>
              <a:rPr lang="fr-FR" sz="4400" dirty="0"/>
              <a:t>Nous avons créé sur GitHub Actions un script qui vérifie la qualité des flows.</a:t>
            </a:r>
          </a:p>
          <a:p>
            <a:endParaRPr lang="fr-FR" sz="4400" b="1" dirty="0"/>
          </a:p>
          <a:p>
            <a:r>
              <a:rPr lang="fr-FR" sz="4400" b="1" dirty="0" err="1"/>
              <a:t>Continuous</a:t>
            </a:r>
            <a:r>
              <a:rPr lang="fr-FR" sz="4400" b="1" dirty="0"/>
              <a:t> </a:t>
            </a:r>
            <a:r>
              <a:rPr lang="fr-FR" sz="4400" b="1" dirty="0" err="1"/>
              <a:t>Development</a:t>
            </a:r>
            <a:r>
              <a:rPr lang="fr-FR" sz="4400" b="1" dirty="0"/>
              <a:t>:</a:t>
            </a:r>
            <a:r>
              <a:rPr lang="fr-FR" sz="4400" dirty="0"/>
              <a:t> quand on push en « prod », les flows sont automatiquement déployés sur </a:t>
            </a:r>
            <a:r>
              <a:rPr lang="fr-FR" sz="4400" dirty="0" err="1"/>
              <a:t>Kestra</a:t>
            </a:r>
            <a:r>
              <a:rPr lang="fr-FR" sz="4400" dirty="0"/>
              <a:t>.</a:t>
            </a:r>
          </a:p>
          <a:p>
            <a:endParaRPr lang="fr-FR" sz="4400" dirty="0"/>
          </a:p>
          <a:p>
            <a:endParaRPr lang="fr-FR" sz="4400" dirty="0"/>
          </a:p>
          <a:p>
            <a:r>
              <a:rPr lang="fr-FR" sz="4400" b="1" dirty="0" err="1"/>
              <a:t>Continuous</a:t>
            </a:r>
            <a:r>
              <a:rPr lang="fr-FR" sz="4400" b="1" dirty="0"/>
              <a:t> Training:</a:t>
            </a:r>
            <a:r>
              <a:rPr lang="fr-FR" sz="4400" dirty="0"/>
              <a:t> Toutes les semaines, l’entraînement est relancé avec de </a:t>
            </a:r>
            <a:r>
              <a:rPr lang="fr-FR" sz="4400" b="1" dirty="0"/>
              <a:t>nouvelles données glissantes + test de plusieurs paramètres </a:t>
            </a:r>
            <a:r>
              <a:rPr lang="fr-FR" sz="4400" dirty="0"/>
              <a:t>candidats pour améliorer le modèle.</a:t>
            </a:r>
          </a:p>
        </p:txBody>
      </p:sp>
      <p:pic>
        <p:nvPicPr>
          <p:cNvPr id="8" name="Image 7" descr="Une image contenant texte, capture d’écran, Police, Page web&#10;&#10;Le contenu généré par l’IA peut être incorrect.">
            <a:extLst>
              <a:ext uri="{FF2B5EF4-FFF2-40B4-BE49-F238E27FC236}">
                <a16:creationId xmlns:a16="http://schemas.microsoft.com/office/drawing/2014/main" id="{45C6F654-A948-AA26-C226-1FEE3873E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62090" y="3251699"/>
            <a:ext cx="6597445" cy="798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51332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15D24-205C-1749-D672-715A824FC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557AD72C-B14B-D6CA-3681-27D80CD3F3FC}"/>
              </a:ext>
            </a:extLst>
          </p:cNvPr>
          <p:cNvSpPr txBox="1"/>
          <p:nvPr/>
        </p:nvSpPr>
        <p:spPr>
          <a:xfrm>
            <a:off x="3167745" y="1087347"/>
            <a:ext cx="21410219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dirty="0"/>
              <a:t>Monitoring</a:t>
            </a:r>
            <a:endParaRPr lang="fr-FR" sz="93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96854-C6B0-277B-65E0-7BC23121FB72}"/>
              </a:ext>
            </a:extLst>
          </p:cNvPr>
          <p:cNvSpPr txBox="1"/>
          <p:nvPr/>
        </p:nvSpPr>
        <p:spPr>
          <a:xfrm>
            <a:off x="3167745" y="2697675"/>
            <a:ext cx="15244797" cy="19389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4000" b="1" dirty="0">
                <a:latin typeface="Poppins"/>
                <a:cs typeface="Poppins"/>
              </a:rPr>
              <a:t>Dashboard: </a:t>
            </a:r>
            <a:r>
              <a:rPr lang="fr-FR" sz="4000" dirty="0">
                <a:latin typeface="Poppins"/>
                <a:cs typeface="Poppins"/>
              </a:rPr>
              <a:t>API - Logs monitoring</a:t>
            </a:r>
          </a:p>
          <a:p>
            <a:r>
              <a:rPr lang="fr-FR" sz="4000" b="1" dirty="0">
                <a:latin typeface="Poppins"/>
                <a:cs typeface="Poppins"/>
              </a:rPr>
              <a:t>Monitoring de l’API (records, API, </a:t>
            </a:r>
            <a:r>
              <a:rPr lang="fr-FR" sz="4000" b="1" dirty="0" err="1">
                <a:latin typeface="Poppins"/>
                <a:cs typeface="Poppins"/>
              </a:rPr>
              <a:t>errors</a:t>
            </a:r>
            <a:r>
              <a:rPr lang="fr-FR" sz="4000" b="1" dirty="0">
                <a:latin typeface="Poppins"/>
                <a:cs typeface="Poppins"/>
              </a:rPr>
              <a:t>, </a:t>
            </a:r>
            <a:r>
              <a:rPr lang="fr-FR" sz="4000" b="1" dirty="0" err="1">
                <a:latin typeface="Poppins"/>
                <a:cs typeface="Poppins"/>
              </a:rPr>
              <a:t>etc</a:t>
            </a:r>
            <a:r>
              <a:rPr lang="fr-FR" sz="4000" b="1" dirty="0">
                <a:latin typeface="Poppins"/>
                <a:cs typeface="Poppins"/>
              </a:rPr>
              <a:t>)</a:t>
            </a:r>
          </a:p>
          <a:p>
            <a:r>
              <a:rPr lang="fr-FR" sz="4000" b="1" dirty="0">
                <a:latin typeface="Poppins"/>
                <a:cs typeface="Poppins"/>
              </a:rPr>
              <a:t>Lien: </a:t>
            </a:r>
            <a:r>
              <a:rPr lang="fr-FR" sz="4000" dirty="0">
                <a:latin typeface="Poppins"/>
                <a:cs typeface="Poppins"/>
                <a:hlinkClick r:id="rId3"/>
              </a:rPr>
              <a:t>Lien Kibana</a:t>
            </a:r>
            <a:endParaRPr lang="fr-FR" sz="4000" dirty="0">
              <a:latin typeface="Poppins"/>
              <a:cs typeface="Poppins"/>
            </a:endParaRPr>
          </a:p>
        </p:txBody>
      </p:sp>
      <p:pic>
        <p:nvPicPr>
          <p:cNvPr id="10" name="Image 9" descr="Une image contenant diagramme, capture d’écran, Tracé, conception&#10;&#10;Le contenu généré par l’IA peut être incorrect.">
            <a:extLst>
              <a:ext uri="{FF2B5EF4-FFF2-40B4-BE49-F238E27FC236}">
                <a16:creationId xmlns:a16="http://schemas.microsoft.com/office/drawing/2014/main" id="{F8132B74-10FF-B2EB-AB48-D09CCEAD9F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9214" y="4636667"/>
            <a:ext cx="16617041" cy="890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71582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283D-4CF5-D903-00B2-8B73C603D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55C4A21A-E058-5353-0309-3FA672446B0B}"/>
              </a:ext>
            </a:extLst>
          </p:cNvPr>
          <p:cNvSpPr txBox="1"/>
          <p:nvPr/>
        </p:nvSpPr>
        <p:spPr>
          <a:xfrm>
            <a:off x="3167745" y="1087347"/>
            <a:ext cx="21410219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9300" dirty="0"/>
              <a:t>Notre infrastructure</a:t>
            </a:r>
          </a:p>
        </p:txBody>
      </p:sp>
      <p:grpSp>
        <p:nvGrpSpPr>
          <p:cNvPr id="63" name="Groupe 43">
            <a:extLst>
              <a:ext uri="{FF2B5EF4-FFF2-40B4-BE49-F238E27FC236}">
                <a16:creationId xmlns:a16="http://schemas.microsoft.com/office/drawing/2014/main" id="{A4E1CF50-B7F4-03FD-2400-9737AA3C4982}"/>
              </a:ext>
            </a:extLst>
          </p:cNvPr>
          <p:cNvGrpSpPr/>
          <p:nvPr/>
        </p:nvGrpSpPr>
        <p:grpSpPr>
          <a:xfrm>
            <a:off x="9209313" y="12705060"/>
            <a:ext cx="15174687" cy="432925"/>
            <a:chOff x="0" y="0"/>
            <a:chExt cx="15174685" cy="432924"/>
          </a:xfrm>
        </p:grpSpPr>
        <p:sp>
          <p:nvSpPr>
            <p:cNvPr id="60" name="Rectangle 44">
              <a:extLst>
                <a:ext uri="{FF2B5EF4-FFF2-40B4-BE49-F238E27FC236}">
                  <a16:creationId xmlns:a16="http://schemas.microsoft.com/office/drawing/2014/main" id="{5C4A57B0-CA3E-3517-6604-7E3D1D781312}"/>
                </a:ext>
              </a:extLst>
            </p:cNvPr>
            <p:cNvSpPr/>
            <p:nvPr/>
          </p:nvSpPr>
          <p:spPr>
            <a:xfrm>
              <a:off x="0" y="-1"/>
              <a:ext cx="5049480" cy="432926"/>
            </a:xfrm>
            <a:prstGeom prst="rect">
              <a:avLst/>
            </a:prstGeom>
            <a:solidFill>
              <a:srgbClr val="BF1238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1" name="Rectangle 45">
              <a:extLst>
                <a:ext uri="{FF2B5EF4-FFF2-40B4-BE49-F238E27FC236}">
                  <a16:creationId xmlns:a16="http://schemas.microsoft.com/office/drawing/2014/main" id="{0A937ADF-97BC-1DF0-867F-19BA992AA6BE}"/>
                </a:ext>
              </a:extLst>
            </p:cNvPr>
            <p:cNvSpPr/>
            <p:nvPr/>
          </p:nvSpPr>
          <p:spPr>
            <a:xfrm>
              <a:off x="5062117" y="-1"/>
              <a:ext cx="5049480" cy="432926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2" name="Rectangle 46">
              <a:extLst>
                <a:ext uri="{FF2B5EF4-FFF2-40B4-BE49-F238E27FC236}">
                  <a16:creationId xmlns:a16="http://schemas.microsoft.com/office/drawing/2014/main" id="{DD2E075F-7CE4-8AD6-D470-6A0362889735}"/>
                </a:ext>
              </a:extLst>
            </p:cNvPr>
            <p:cNvSpPr/>
            <p:nvPr/>
          </p:nvSpPr>
          <p:spPr>
            <a:xfrm>
              <a:off x="10125206" y="-1"/>
              <a:ext cx="5049480" cy="432926"/>
            </a:xfrm>
            <a:prstGeom prst="rect">
              <a:avLst/>
            </a:prstGeom>
            <a:solidFill>
              <a:srgbClr val="6D504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4" name="ZoneTexte 3">
            <a:extLst>
              <a:ext uri="{FF2B5EF4-FFF2-40B4-BE49-F238E27FC236}">
                <a16:creationId xmlns:a16="http://schemas.microsoft.com/office/drawing/2014/main" id="{F705029C-D12E-F1E9-5994-B49C8A617A85}"/>
              </a:ext>
            </a:extLst>
          </p:cNvPr>
          <p:cNvSpPr txBox="1"/>
          <p:nvPr/>
        </p:nvSpPr>
        <p:spPr>
          <a:xfrm>
            <a:off x="3167745" y="3226218"/>
            <a:ext cx="19574268" cy="78483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6000" dirty="0">
                <a:latin typeface="Poppins"/>
                <a:cs typeface="Poppins"/>
              </a:rPr>
              <a:t>Le home-server de Julien (</a:t>
            </a:r>
            <a:r>
              <a:rPr lang="fr-FR" sz="6000" dirty="0" err="1">
                <a:latin typeface="Poppins"/>
                <a:cs typeface="Poppins"/>
              </a:rPr>
              <a:t>lafrance.io</a:t>
            </a:r>
            <a:r>
              <a:rPr lang="fr-FR" sz="6000" dirty="0">
                <a:latin typeface="Poppins"/>
                <a:cs typeface="Poppins"/>
              </a:rPr>
              <a:t>) :</a:t>
            </a:r>
          </a:p>
          <a:p>
            <a:endParaRPr lang="fr-FR" sz="6000" dirty="0">
              <a:latin typeface="Poppins"/>
              <a:cs typeface="Poppins"/>
            </a:endParaRPr>
          </a:p>
          <a:p>
            <a:r>
              <a:rPr lang="fr-FR" sz="4800" b="1" dirty="0">
                <a:latin typeface="Poppins"/>
                <a:cs typeface="Poppins"/>
              </a:rPr>
              <a:t>1 VM (environnement Dev) avec </a:t>
            </a:r>
            <a:r>
              <a:rPr lang="fr-FR" sz="4800" dirty="0">
                <a:latin typeface="Poppins"/>
                <a:cs typeface="Poppins"/>
              </a:rPr>
              <a:t>DOCKER COMPOSE </a:t>
            </a:r>
          </a:p>
          <a:p>
            <a:r>
              <a:rPr lang="fr-FR" sz="4000" dirty="0">
                <a:latin typeface="Poppins"/>
                <a:cs typeface="Poppins"/>
              </a:rPr>
              <a:t>Host: </a:t>
            </a:r>
            <a:r>
              <a:rPr lang="fr-FR" sz="4000" dirty="0" err="1">
                <a:latin typeface="Poppins"/>
                <a:cs typeface="Poppins"/>
              </a:rPr>
              <a:t>Kestra</a:t>
            </a:r>
            <a:r>
              <a:rPr lang="fr-FR" sz="4000" dirty="0">
                <a:latin typeface="Poppins"/>
                <a:cs typeface="Poppins"/>
              </a:rPr>
              <a:t> (:5601), </a:t>
            </a:r>
            <a:r>
              <a:rPr lang="fr-FR" sz="4000" dirty="0" err="1">
                <a:latin typeface="Poppins"/>
                <a:cs typeface="Poppins"/>
              </a:rPr>
              <a:t>FastAPI</a:t>
            </a:r>
            <a:r>
              <a:rPr lang="fr-FR" sz="4000" dirty="0">
                <a:latin typeface="Poppins"/>
                <a:cs typeface="Poppins"/>
              </a:rPr>
              <a:t> (:8000), </a:t>
            </a:r>
            <a:r>
              <a:rPr lang="fr-FR" sz="4000" dirty="0" err="1">
                <a:latin typeface="Poppins"/>
                <a:cs typeface="Poppins"/>
              </a:rPr>
              <a:t>WebApp</a:t>
            </a:r>
            <a:r>
              <a:rPr lang="fr-FR" sz="4000" dirty="0">
                <a:latin typeface="Poppins"/>
                <a:cs typeface="Poppins"/>
              </a:rPr>
              <a:t> (:8501), Bases PG (:5432) </a:t>
            </a:r>
          </a:p>
          <a:p>
            <a:r>
              <a:rPr lang="fr-FR" sz="4000" dirty="0">
                <a:latin typeface="Poppins"/>
                <a:cs typeface="Poppins"/>
              </a:rPr>
              <a:t>S3 </a:t>
            </a:r>
            <a:r>
              <a:rPr lang="fr-FR" sz="4000" dirty="0" err="1">
                <a:latin typeface="Poppins"/>
                <a:cs typeface="Poppins"/>
              </a:rPr>
              <a:t>hosté</a:t>
            </a:r>
            <a:r>
              <a:rPr lang="fr-FR" sz="4000" dirty="0">
                <a:latin typeface="Poppins"/>
                <a:cs typeface="Poppins"/>
              </a:rPr>
              <a:t> séparément (s3fast.lafrance.io)</a:t>
            </a:r>
          </a:p>
          <a:p>
            <a:r>
              <a:rPr lang="fr-FR" sz="4000" dirty="0">
                <a:latin typeface="Poppins"/>
                <a:cs typeface="Poppins"/>
              </a:rPr>
              <a:t>Adresse IP: 192.168.80.212</a:t>
            </a:r>
            <a:br>
              <a:rPr lang="fr-FR" sz="4000" dirty="0">
                <a:latin typeface="Poppins"/>
                <a:cs typeface="Poppins"/>
              </a:rPr>
            </a:br>
            <a:endParaRPr lang="fr-FR" sz="4800" dirty="0">
              <a:latin typeface="Poppins"/>
              <a:cs typeface="Poppins"/>
            </a:endParaRPr>
          </a:p>
          <a:p>
            <a:r>
              <a:rPr lang="fr-FR" sz="4800" b="1" dirty="0">
                <a:latin typeface="Poppins"/>
                <a:cs typeface="Poppins"/>
              </a:rPr>
              <a:t>1 VM (environnement PRD) avec </a:t>
            </a:r>
            <a:r>
              <a:rPr lang="fr-FR" sz="4800" dirty="0">
                <a:latin typeface="Poppins"/>
                <a:cs typeface="Poppins"/>
              </a:rPr>
              <a:t>K3S + </a:t>
            </a:r>
            <a:r>
              <a:rPr lang="fr-FR" sz="4800" dirty="0" err="1">
                <a:latin typeface="Poppins"/>
                <a:cs typeface="Poppins"/>
              </a:rPr>
              <a:t>Helm</a:t>
            </a:r>
            <a:endParaRPr lang="fr-FR" sz="4800" dirty="0">
              <a:latin typeface="Poppins"/>
              <a:cs typeface="Poppins"/>
            </a:endParaRPr>
          </a:p>
          <a:p>
            <a:r>
              <a:rPr lang="fr-FR" sz="4000" dirty="0">
                <a:latin typeface="Poppins"/>
                <a:cs typeface="Poppins"/>
              </a:rPr>
              <a:t>Host: </a:t>
            </a:r>
            <a:r>
              <a:rPr lang="fr-FR" sz="4000" dirty="0" err="1">
                <a:latin typeface="Poppins"/>
                <a:cs typeface="Poppins"/>
              </a:rPr>
              <a:t>Kestra</a:t>
            </a:r>
            <a:r>
              <a:rPr lang="fr-FR" sz="4000" dirty="0">
                <a:latin typeface="Poppins"/>
                <a:cs typeface="Poppins"/>
              </a:rPr>
              <a:t> (:5601), </a:t>
            </a:r>
            <a:r>
              <a:rPr lang="fr-FR" sz="4000" dirty="0" err="1">
                <a:latin typeface="Poppins"/>
                <a:cs typeface="Poppins"/>
              </a:rPr>
              <a:t>FastAPI</a:t>
            </a:r>
            <a:r>
              <a:rPr lang="fr-FR" sz="4000" dirty="0">
                <a:latin typeface="Poppins"/>
                <a:cs typeface="Poppins"/>
              </a:rPr>
              <a:t> (:30800), </a:t>
            </a:r>
            <a:r>
              <a:rPr lang="fr-FR" sz="4000" dirty="0" err="1">
                <a:latin typeface="Poppins"/>
                <a:cs typeface="Poppins"/>
              </a:rPr>
              <a:t>WebApp</a:t>
            </a:r>
            <a:r>
              <a:rPr lang="fr-FR" sz="4000" dirty="0">
                <a:latin typeface="Poppins"/>
                <a:cs typeface="Poppins"/>
              </a:rPr>
              <a:t> (:30085), Bases PG (:5432) </a:t>
            </a:r>
          </a:p>
          <a:p>
            <a:r>
              <a:rPr lang="fr-FR" sz="4000" dirty="0">
                <a:latin typeface="Poppins"/>
                <a:cs typeface="Poppins"/>
              </a:rPr>
              <a:t>S3 </a:t>
            </a:r>
            <a:r>
              <a:rPr lang="fr-FR" sz="4000" dirty="0" err="1">
                <a:latin typeface="Poppins"/>
                <a:cs typeface="Poppins"/>
              </a:rPr>
              <a:t>hosté</a:t>
            </a:r>
            <a:r>
              <a:rPr lang="fr-FR" sz="4000" dirty="0">
                <a:latin typeface="Poppins"/>
                <a:cs typeface="Poppins"/>
              </a:rPr>
              <a:t> séparément (s3fast.lafrance.io)</a:t>
            </a:r>
          </a:p>
          <a:p>
            <a:r>
              <a:rPr lang="fr-FR" sz="4000" dirty="0">
                <a:latin typeface="Poppins"/>
                <a:cs typeface="Poppins"/>
              </a:rPr>
              <a:t>Adresse IP: 192.168.80.127</a:t>
            </a:r>
          </a:p>
        </p:txBody>
      </p:sp>
    </p:spTree>
    <p:extLst>
      <p:ext uri="{BB962C8B-B14F-4D97-AF65-F5344CB8AC3E}">
        <p14:creationId xmlns:p14="http://schemas.microsoft.com/office/powerpoint/2010/main" val="147144521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4EBFD-2D9B-B255-46D8-27807298C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re 4">
            <a:extLst>
              <a:ext uri="{FF2B5EF4-FFF2-40B4-BE49-F238E27FC236}">
                <a16:creationId xmlns:a16="http://schemas.microsoft.com/office/drawing/2014/main" id="{A630CFDE-106E-794F-EF20-7B846A4B7F46}"/>
              </a:ext>
            </a:extLst>
          </p:cNvPr>
          <p:cNvSpPr txBox="1"/>
          <p:nvPr/>
        </p:nvSpPr>
        <p:spPr>
          <a:xfrm>
            <a:off x="3167745" y="1087347"/>
            <a:ext cx="21410219" cy="152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Autofit/>
          </a:bodyPr>
          <a:lstStyle>
            <a:lvl1pPr defTabSz="2270580">
              <a:lnSpc>
                <a:spcPct val="80000"/>
              </a:lnSpc>
              <a:defRPr sz="9312" spc="-1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rPr lang="fr-FR" sz="9300" dirty="0"/>
              <a:t>Nos liens</a:t>
            </a:r>
          </a:p>
        </p:txBody>
      </p:sp>
      <p:grpSp>
        <p:nvGrpSpPr>
          <p:cNvPr id="63" name="Groupe 43">
            <a:extLst>
              <a:ext uri="{FF2B5EF4-FFF2-40B4-BE49-F238E27FC236}">
                <a16:creationId xmlns:a16="http://schemas.microsoft.com/office/drawing/2014/main" id="{9471B9F5-CA6D-92E8-EB94-DA982CE051D8}"/>
              </a:ext>
            </a:extLst>
          </p:cNvPr>
          <p:cNvGrpSpPr/>
          <p:nvPr/>
        </p:nvGrpSpPr>
        <p:grpSpPr>
          <a:xfrm>
            <a:off x="9209313" y="12705060"/>
            <a:ext cx="15174687" cy="432925"/>
            <a:chOff x="0" y="0"/>
            <a:chExt cx="15174685" cy="432924"/>
          </a:xfrm>
        </p:grpSpPr>
        <p:sp>
          <p:nvSpPr>
            <p:cNvPr id="60" name="Rectangle 44">
              <a:extLst>
                <a:ext uri="{FF2B5EF4-FFF2-40B4-BE49-F238E27FC236}">
                  <a16:creationId xmlns:a16="http://schemas.microsoft.com/office/drawing/2014/main" id="{38CAD1B4-D701-CA91-4B48-EC26BE5E6FFE}"/>
                </a:ext>
              </a:extLst>
            </p:cNvPr>
            <p:cNvSpPr/>
            <p:nvPr/>
          </p:nvSpPr>
          <p:spPr>
            <a:xfrm>
              <a:off x="0" y="-1"/>
              <a:ext cx="5049480" cy="432926"/>
            </a:xfrm>
            <a:prstGeom prst="rect">
              <a:avLst/>
            </a:prstGeom>
            <a:solidFill>
              <a:srgbClr val="BF1238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1" name="Rectangle 45">
              <a:extLst>
                <a:ext uri="{FF2B5EF4-FFF2-40B4-BE49-F238E27FC236}">
                  <a16:creationId xmlns:a16="http://schemas.microsoft.com/office/drawing/2014/main" id="{DFB526AC-E634-9AEE-49C1-AA7D8B93B664}"/>
                </a:ext>
              </a:extLst>
            </p:cNvPr>
            <p:cNvSpPr/>
            <p:nvPr/>
          </p:nvSpPr>
          <p:spPr>
            <a:xfrm>
              <a:off x="5062117" y="-1"/>
              <a:ext cx="5049480" cy="432926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2" name="Rectangle 46">
              <a:extLst>
                <a:ext uri="{FF2B5EF4-FFF2-40B4-BE49-F238E27FC236}">
                  <a16:creationId xmlns:a16="http://schemas.microsoft.com/office/drawing/2014/main" id="{5C1211CA-FBCF-3FA1-6274-DA8EC5FF45B3}"/>
                </a:ext>
              </a:extLst>
            </p:cNvPr>
            <p:cNvSpPr/>
            <p:nvPr/>
          </p:nvSpPr>
          <p:spPr>
            <a:xfrm>
              <a:off x="10125206" y="-1"/>
              <a:ext cx="5049480" cy="432926"/>
            </a:xfrm>
            <a:prstGeom prst="rect">
              <a:avLst/>
            </a:prstGeom>
            <a:solidFill>
              <a:srgbClr val="6D504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4" name="ZoneTexte 3">
            <a:extLst>
              <a:ext uri="{FF2B5EF4-FFF2-40B4-BE49-F238E27FC236}">
                <a16:creationId xmlns:a16="http://schemas.microsoft.com/office/drawing/2014/main" id="{A7DF1C78-F8F7-0F47-E720-C129B88E535F}"/>
              </a:ext>
            </a:extLst>
          </p:cNvPr>
          <p:cNvSpPr txBox="1"/>
          <p:nvPr/>
        </p:nvSpPr>
        <p:spPr>
          <a:xfrm>
            <a:off x="3167745" y="3226218"/>
            <a:ext cx="19574268" cy="584775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fr-FR" sz="5400" b="1" dirty="0">
                <a:latin typeface="Poppins"/>
                <a:cs typeface="Poppins"/>
              </a:rPr>
              <a:t>PRD</a:t>
            </a:r>
          </a:p>
          <a:p>
            <a:endParaRPr lang="fr-FR" sz="4000" dirty="0">
              <a:latin typeface="Poppins"/>
              <a:cs typeface="Poppins"/>
            </a:endParaRPr>
          </a:p>
          <a:p>
            <a:r>
              <a:rPr lang="fr-FR" sz="4000" b="1" dirty="0" err="1">
                <a:latin typeface="Poppins"/>
                <a:cs typeface="Poppins"/>
              </a:rPr>
              <a:t>Kestra</a:t>
            </a:r>
            <a:r>
              <a:rPr lang="fr-FR" sz="4000" b="1" dirty="0">
                <a:latin typeface="Poppins"/>
                <a:cs typeface="Poppins"/>
              </a:rPr>
              <a:t>: </a:t>
            </a:r>
            <a:r>
              <a:rPr lang="fr-FR" sz="4000" dirty="0">
                <a:latin typeface="Poppins"/>
                <a:cs typeface="Poppins"/>
                <a:hlinkClick r:id="rId3"/>
              </a:rPr>
              <a:t>https://kestra713.lafrance.io</a:t>
            </a:r>
            <a:r>
              <a:rPr lang="fr-FR" sz="4000" dirty="0">
                <a:latin typeface="Poppins"/>
                <a:cs typeface="Poppins"/>
              </a:rPr>
              <a:t> (705@lafrance.io/Proj@705)</a:t>
            </a:r>
          </a:p>
          <a:p>
            <a:endParaRPr lang="fr-FR" sz="4000" b="1" dirty="0">
              <a:latin typeface="Poppins"/>
              <a:cs typeface="Poppins"/>
            </a:endParaRPr>
          </a:p>
          <a:p>
            <a:r>
              <a:rPr lang="fr-FR" sz="4000" b="1" dirty="0" err="1">
                <a:latin typeface="Poppins"/>
                <a:cs typeface="Poppins"/>
              </a:rPr>
              <a:t>Streamlit</a:t>
            </a:r>
            <a:r>
              <a:rPr lang="fr-FR" sz="4000" b="1" dirty="0">
                <a:latin typeface="Poppins"/>
                <a:cs typeface="Poppins"/>
              </a:rPr>
              <a:t>: </a:t>
            </a:r>
            <a:r>
              <a:rPr lang="fr-FR" sz="4000" dirty="0">
                <a:latin typeface="Poppins"/>
                <a:cs typeface="Poppins"/>
                <a:hlinkClick r:id="rId4"/>
              </a:rPr>
              <a:t>https://webapp713.lafrance.io</a:t>
            </a:r>
            <a:endParaRPr lang="fr-FR" sz="4000" dirty="0">
              <a:latin typeface="Poppins"/>
              <a:cs typeface="Poppins"/>
            </a:endParaRPr>
          </a:p>
          <a:p>
            <a:endParaRPr lang="fr-FR" sz="4000" b="1" dirty="0">
              <a:latin typeface="Poppins"/>
              <a:cs typeface="Poppins"/>
            </a:endParaRPr>
          </a:p>
          <a:p>
            <a:r>
              <a:rPr lang="fr-FR" sz="4000" b="1" dirty="0">
                <a:latin typeface="Poppins"/>
                <a:cs typeface="Poppins"/>
              </a:rPr>
              <a:t>API: </a:t>
            </a:r>
            <a:r>
              <a:rPr lang="fr-FR" sz="4000" dirty="0">
                <a:latin typeface="Poppins"/>
                <a:cs typeface="Poppins"/>
                <a:hlinkClick r:id="rId5"/>
              </a:rPr>
              <a:t>https://api713.lafrance.io/docs</a:t>
            </a:r>
            <a:endParaRPr lang="fr-FR" sz="4000" dirty="0">
              <a:latin typeface="Poppins"/>
              <a:cs typeface="Poppins"/>
            </a:endParaRPr>
          </a:p>
          <a:p>
            <a:endParaRPr lang="fr-FR" sz="4000" dirty="0">
              <a:latin typeface="Poppins"/>
              <a:cs typeface="Poppins"/>
            </a:endParaRPr>
          </a:p>
          <a:p>
            <a:r>
              <a:rPr lang="fr-FR" sz="4000" b="1" dirty="0" err="1">
                <a:latin typeface="Poppins"/>
                <a:cs typeface="Poppins"/>
              </a:rPr>
              <a:t>Elastic</a:t>
            </a:r>
            <a:r>
              <a:rPr lang="fr-FR" sz="4000" b="1" dirty="0">
                <a:latin typeface="Poppins"/>
                <a:cs typeface="Poppins"/>
              </a:rPr>
              <a:t>/</a:t>
            </a:r>
            <a:r>
              <a:rPr lang="fr-FR" sz="4000" b="1" dirty="0" err="1">
                <a:latin typeface="Poppins"/>
                <a:cs typeface="Poppins"/>
              </a:rPr>
              <a:t>Kibana</a:t>
            </a:r>
            <a:r>
              <a:rPr lang="fr-FR" sz="4000" b="1" dirty="0">
                <a:latin typeface="Poppins"/>
                <a:cs typeface="Poppins"/>
              </a:rPr>
              <a:t>: </a:t>
            </a:r>
            <a:r>
              <a:rPr lang="fr-FR" sz="4000" dirty="0">
                <a:latin typeface="Poppins"/>
                <a:cs typeface="Poppins"/>
                <a:hlinkClick r:id="rId6"/>
              </a:rPr>
              <a:t>https://kibana713.lafrance.</a:t>
            </a:r>
            <a:r>
              <a:rPr lang="fr-FR" sz="4000" dirty="0">
                <a:latin typeface="Poppins"/>
                <a:cs typeface="Poppins"/>
                <a:hlinkClick r:id="rId6"/>
              </a:rPr>
              <a:t>io</a:t>
            </a:r>
            <a:endParaRPr lang="fr-FR" sz="4000" dirty="0"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78691538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Logo_Telecom_IPParis_RVB_blanc_H.png" descr="Logo_Telecom_IPParis_RVB_blanc_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7" y="396748"/>
            <a:ext cx="6678950" cy="3122531"/>
          </a:xfrm>
          <a:prstGeom prst="rect">
            <a:avLst/>
          </a:prstGeom>
          <a:ln w="12700">
            <a:miter lim="400000"/>
          </a:ln>
        </p:spPr>
      </p:pic>
      <p:sp>
        <p:nvSpPr>
          <p:cNvPr id="176" name="Titre 4"/>
          <p:cNvSpPr txBox="1"/>
          <p:nvPr/>
        </p:nvSpPr>
        <p:spPr>
          <a:xfrm>
            <a:off x="2103694" y="5899444"/>
            <a:ext cx="13128172" cy="1917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b">
            <a:normAutofit/>
          </a:bodyPr>
          <a:lstStyle>
            <a:lvl1pPr defTabSz="1942867">
              <a:lnSpc>
                <a:spcPct val="72000"/>
              </a:lnSpc>
              <a:defRPr sz="11952" spc="-16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r>
              <a:t>Merci à vous.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TP">
  <a:themeElements>
    <a:clrScheme name="TP">
      <a:dk1>
        <a:srgbClr val="555555"/>
      </a:dk1>
      <a:lt1>
        <a:srgbClr val="FFFFFF"/>
      </a:lt1>
      <a:dk2>
        <a:srgbClr val="A7A7A7"/>
      </a:dk2>
      <a:lt2>
        <a:srgbClr val="535353"/>
      </a:lt2>
      <a:accent1>
        <a:srgbClr val="160873"/>
      </a:accent1>
      <a:accent2>
        <a:srgbClr val="1CF38B"/>
      </a:accent2>
      <a:accent3>
        <a:srgbClr val="F6CC46"/>
      </a:accent3>
      <a:accent4>
        <a:srgbClr val="BED1F1"/>
      </a:accent4>
      <a:accent5>
        <a:srgbClr val="FEEAEF"/>
      </a:accent5>
      <a:accent6>
        <a:srgbClr val="A5A5A5"/>
      </a:accent6>
      <a:hlink>
        <a:srgbClr val="0000FF"/>
      </a:hlink>
      <a:folHlink>
        <a:srgbClr val="FF00FF"/>
      </a:folHlink>
    </a:clrScheme>
    <a:fontScheme name="TP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TP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555555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555555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TP">
  <a:themeElements>
    <a:clrScheme name="TP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60873"/>
      </a:accent1>
      <a:accent2>
        <a:srgbClr val="1CF38B"/>
      </a:accent2>
      <a:accent3>
        <a:srgbClr val="F6CC46"/>
      </a:accent3>
      <a:accent4>
        <a:srgbClr val="BED1F1"/>
      </a:accent4>
      <a:accent5>
        <a:srgbClr val="FEEAEF"/>
      </a:accent5>
      <a:accent6>
        <a:srgbClr val="A5A5A5"/>
      </a:accent6>
      <a:hlink>
        <a:srgbClr val="0000FF"/>
      </a:hlink>
      <a:folHlink>
        <a:srgbClr val="FF00FF"/>
      </a:folHlink>
    </a:clrScheme>
    <a:fontScheme name="TP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TP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555555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555555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814</Words>
  <Application>Microsoft Macintosh PowerPoint</Application>
  <PresentationFormat>Personnalisé</PresentationFormat>
  <Paragraphs>112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0" baseType="lpstr">
      <vt:lpstr>Arial</vt:lpstr>
      <vt:lpstr>Calibri</vt:lpstr>
      <vt:lpstr>DINOT-Medium</vt:lpstr>
      <vt:lpstr>DINOT-Regular</vt:lpstr>
      <vt:lpstr>Helvetica Neue</vt:lpstr>
      <vt:lpstr>Helvetica Neue Medium</vt:lpstr>
      <vt:lpstr>Poppins</vt:lpstr>
      <vt:lpstr>TP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Yassine Mernissi</cp:lastModifiedBy>
  <cp:revision>46</cp:revision>
  <cp:lastPrinted>2026-02-02T07:24:24Z</cp:lastPrinted>
  <dcterms:modified xsi:type="dcterms:W3CDTF">2026-03-11T15:54:13Z</dcterms:modified>
</cp:coreProperties>
</file>