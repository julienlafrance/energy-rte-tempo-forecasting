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302" r:id="rId4"/>
    <p:sldId id="304" r:id="rId5"/>
    <p:sldId id="303" r:id="rId6"/>
    <p:sldId id="305" r:id="rId7"/>
    <p:sldId id="306" r:id="rId8"/>
    <p:sldId id="308" r:id="rId9"/>
    <p:sldId id="309" r:id="rId10"/>
    <p:sldId id="307" r:id="rId11"/>
    <p:sldId id="268" r:id="rId1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1pPr>
    <a:lvl2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2pPr>
    <a:lvl3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3pPr>
    <a:lvl4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4pPr>
    <a:lvl5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5pPr>
    <a:lvl6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6pPr>
    <a:lvl7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7pPr>
    <a:lvl8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8pPr>
    <a:lvl9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lvl9pPr>
  </p:defaultTextStyle>
  <p:extLst>
    <p:ext uri="{521415D9-36F7-43E2-AB2F-B90AF26B5E84}">
      <p14:sectionLst xmlns:p14="http://schemas.microsoft.com/office/powerpoint/2010/main">
        <p14:section name="Présentation finale" id="{8E07182E-2F65-45ED-AF4D-6E4F21505D03}">
          <p14:sldIdLst>
            <p14:sldId id="256"/>
            <p14:sldId id="257"/>
            <p14:sldId id="302"/>
            <p14:sldId id="304"/>
            <p14:sldId id="303"/>
            <p14:sldId id="305"/>
            <p14:sldId id="306"/>
            <p14:sldId id="308"/>
            <p14:sldId id="309"/>
            <p14:sldId id="30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4E753C-6ACA-ED92-5F1B-6A5C8A0B2CF0}" v="233" dt="2026-02-06T08:00:48.491"/>
    <p1510:client id="{05F4B054-F6BF-E85D-DD28-C86FDC93E9DF}" v="26" dt="2026-02-05T09:36:39.134"/>
    <p1510:client id="{0AAB604F-65FA-6A6D-5ECB-AC8D33552AFA}" v="11" dt="2026-02-05T09:06:52.408"/>
    <p1510:client id="{35F657DA-DBCC-AF5B-0CF1-11B763F0B2A0}" v="225" dt="2026-02-04T19:27:21.378"/>
    <p1510:client id="{36BE05B0-9053-EFB6-FC2E-2E5F41F9B485}" v="1" dt="2026-02-04T12:59:50.948"/>
    <p1510:client id="{4449B90B-0094-6014-1462-385BB4746B4B}" v="26" dt="2026-02-05T09:05:53.592"/>
    <p1510:client id="{776D618D-20B5-E448-B5ED-CDE9584FFB66}" v="2305" dt="2026-02-05T10:08:10.585"/>
    <p1510:client id="{89E51F76-5B0F-B8D4-1718-F6F5597AA292}" v="101" dt="2026-02-04T12:53:16.645"/>
    <p1510:client id="{90B84504-F53A-67D1-516F-33D8338F2920}" v="211" dt="2026-02-06T09:06:24.457"/>
    <p1510:client id="{A510FADB-7F7E-28A0-3C23-522577F353F9}" v="203" dt="2026-02-05T19:58:54.226"/>
    <p1510:client id="{DB2AEF24-4DB0-17D9-2D88-A6BDEC6A376C}" v="398" dt="2026-02-06T09:27:26.851"/>
    <p1510:client id="{DC9EA0CA-5A05-A365-2907-056CCDF8748D}" v="2" dt="2026-02-05T18:03:52.041"/>
    <p1510:client id="{F2F5A471-0FEA-753D-36C1-5861C5DB4A7F}" v="663" dt="2026-02-05T15:27:23.926"/>
    <p1510:client id="{F5D7433B-1E14-4E35-B854-C934460B650B}" v="753" dt="2026-02-06T12:38:04.06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555555"/>
        </a:fontRef>
        <a:srgbClr val="55555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D4"/>
          </a:solidFill>
        </a:fill>
      </a:tcStyle>
    </a:wholeTbl>
    <a:band2H>
      <a:tcTxStyle/>
      <a:tcStyle>
        <a:tcBdr/>
        <a:fill>
          <a:solidFill>
            <a:srgbClr val="E7E6EB"/>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555555"/>
        </a:fontRef>
        <a:srgbClr val="55555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BECCE"/>
          </a:solidFill>
        </a:fill>
      </a:tcStyle>
    </a:wholeTbl>
    <a:band2H>
      <a:tcTxStyle/>
      <a:tcStyle>
        <a:tcBdr/>
        <a:fill>
          <a:solidFill>
            <a:srgbClr val="FDF6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555555"/>
        </a:fontRef>
        <a:srgbClr val="55555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555555"/>
        </a:fontRef>
        <a:srgbClr val="555555"/>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9E9E9"/>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555555"/>
        </a:fontRef>
        <a:srgbClr val="555555"/>
      </a:tcTxStyle>
      <a:tcStyle>
        <a:tcBdr>
          <a:left>
            <a:ln w="12700" cap="flat">
              <a:noFill/>
              <a:miter lim="400000"/>
            </a:ln>
          </a:left>
          <a:right>
            <a:ln w="12700" cap="flat">
              <a:noFill/>
              <a:miter lim="400000"/>
            </a:ln>
          </a:right>
          <a:top>
            <a:ln w="50800" cap="flat">
              <a:solidFill>
                <a:srgbClr val="555555"/>
              </a:solidFill>
              <a:prstDash val="solid"/>
              <a:round/>
            </a:ln>
          </a:top>
          <a:bottom>
            <a:ln w="25400" cap="flat">
              <a:solidFill>
                <a:srgbClr val="555555"/>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555555"/>
              </a:solidFill>
              <a:prstDash val="solid"/>
              <a:round/>
            </a:ln>
          </a:top>
          <a:bottom>
            <a:ln w="25400" cap="flat">
              <a:solidFill>
                <a:srgbClr val="555555"/>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555555"/>
        </a:fontRef>
        <a:srgbClr val="55555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0D0"/>
          </a:solidFill>
        </a:fill>
      </a:tcStyle>
    </a:wholeTbl>
    <a:band2H>
      <a:tcTxStyle/>
      <a:tcStyle>
        <a:tcBdr/>
        <a:fill>
          <a:solidFill>
            <a:srgbClr val="E9E9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55555"/>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55555"/>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555555"/>
          </a:solidFill>
        </a:fill>
      </a:tcStyle>
    </a:firstRow>
  </a:tblStyle>
  <a:tblStyle styleId="{2708684C-4D16-4618-839F-0558EEFCDFE6}" styleName="">
    <a:tblBg/>
    <a:wholeTbl>
      <a:tcTxStyle b="off" i="off">
        <a:fontRef idx="major">
          <a:srgbClr val="555555"/>
        </a:fontRef>
        <a:srgbClr val="555555"/>
      </a:tcTxStyle>
      <a:tcStyle>
        <a:tcBdr>
          <a:left>
            <a:ln w="12700" cap="flat">
              <a:solidFill>
                <a:srgbClr val="555555"/>
              </a:solidFill>
              <a:prstDash val="solid"/>
              <a:round/>
            </a:ln>
          </a:left>
          <a:right>
            <a:ln w="12700" cap="flat">
              <a:solidFill>
                <a:srgbClr val="555555"/>
              </a:solidFill>
              <a:prstDash val="solid"/>
              <a:round/>
            </a:ln>
          </a:right>
          <a:top>
            <a:ln w="12700" cap="flat">
              <a:solidFill>
                <a:srgbClr val="555555"/>
              </a:solidFill>
              <a:prstDash val="solid"/>
              <a:round/>
            </a:ln>
          </a:top>
          <a:bottom>
            <a:ln w="12700" cap="flat">
              <a:solidFill>
                <a:srgbClr val="555555"/>
              </a:solidFill>
              <a:prstDash val="solid"/>
              <a:round/>
            </a:ln>
          </a:bottom>
          <a:insideH>
            <a:ln w="12700" cap="flat">
              <a:solidFill>
                <a:srgbClr val="555555"/>
              </a:solidFill>
              <a:prstDash val="solid"/>
              <a:round/>
            </a:ln>
          </a:insideH>
          <a:insideV>
            <a:ln w="12700" cap="flat">
              <a:solidFill>
                <a:srgbClr val="555555"/>
              </a:solidFill>
              <a:prstDash val="solid"/>
              <a:round/>
            </a:ln>
          </a:insideV>
        </a:tcBdr>
        <a:fill>
          <a:solidFill>
            <a:srgbClr val="555555">
              <a:alpha val="20000"/>
            </a:srgbClr>
          </a:solidFill>
        </a:fill>
      </a:tcStyle>
    </a:wholeTbl>
    <a:band2H>
      <a:tcTxStyle/>
      <a:tcStyle>
        <a:tcBdr/>
        <a:fill>
          <a:solidFill>
            <a:srgbClr val="FFFFFF"/>
          </a:solidFill>
        </a:fill>
      </a:tcStyle>
    </a:band2H>
    <a:firstCol>
      <a:tcTxStyle b="on" i="off">
        <a:fontRef idx="major">
          <a:srgbClr val="555555"/>
        </a:fontRef>
        <a:srgbClr val="555555"/>
      </a:tcTxStyle>
      <a:tcStyle>
        <a:tcBdr>
          <a:left>
            <a:ln w="12700" cap="flat">
              <a:solidFill>
                <a:srgbClr val="555555"/>
              </a:solidFill>
              <a:prstDash val="solid"/>
              <a:round/>
            </a:ln>
          </a:left>
          <a:right>
            <a:ln w="12700" cap="flat">
              <a:solidFill>
                <a:srgbClr val="555555"/>
              </a:solidFill>
              <a:prstDash val="solid"/>
              <a:round/>
            </a:ln>
          </a:right>
          <a:top>
            <a:ln w="12700" cap="flat">
              <a:solidFill>
                <a:srgbClr val="555555"/>
              </a:solidFill>
              <a:prstDash val="solid"/>
              <a:round/>
            </a:ln>
          </a:top>
          <a:bottom>
            <a:ln w="12700" cap="flat">
              <a:solidFill>
                <a:srgbClr val="555555"/>
              </a:solidFill>
              <a:prstDash val="solid"/>
              <a:round/>
            </a:ln>
          </a:bottom>
          <a:insideH>
            <a:ln w="12700" cap="flat">
              <a:solidFill>
                <a:srgbClr val="555555"/>
              </a:solidFill>
              <a:prstDash val="solid"/>
              <a:round/>
            </a:ln>
          </a:insideH>
          <a:insideV>
            <a:ln w="12700" cap="flat">
              <a:solidFill>
                <a:srgbClr val="555555"/>
              </a:solidFill>
              <a:prstDash val="solid"/>
              <a:round/>
            </a:ln>
          </a:insideV>
        </a:tcBdr>
        <a:fill>
          <a:solidFill>
            <a:srgbClr val="555555">
              <a:alpha val="20000"/>
            </a:srgbClr>
          </a:solidFill>
        </a:fill>
      </a:tcStyle>
    </a:firstCol>
    <a:lastRow>
      <a:tcTxStyle b="on" i="off">
        <a:fontRef idx="major">
          <a:srgbClr val="555555"/>
        </a:fontRef>
        <a:srgbClr val="555555"/>
      </a:tcTxStyle>
      <a:tcStyle>
        <a:tcBdr>
          <a:left>
            <a:ln w="12700" cap="flat">
              <a:solidFill>
                <a:srgbClr val="555555"/>
              </a:solidFill>
              <a:prstDash val="solid"/>
              <a:round/>
            </a:ln>
          </a:left>
          <a:right>
            <a:ln w="12700" cap="flat">
              <a:solidFill>
                <a:srgbClr val="555555"/>
              </a:solidFill>
              <a:prstDash val="solid"/>
              <a:round/>
            </a:ln>
          </a:right>
          <a:top>
            <a:ln w="50800" cap="flat">
              <a:solidFill>
                <a:srgbClr val="555555"/>
              </a:solidFill>
              <a:prstDash val="solid"/>
              <a:round/>
            </a:ln>
          </a:top>
          <a:bottom>
            <a:ln w="12700" cap="flat">
              <a:solidFill>
                <a:srgbClr val="555555"/>
              </a:solidFill>
              <a:prstDash val="solid"/>
              <a:round/>
            </a:ln>
          </a:bottom>
          <a:insideH>
            <a:ln w="12700" cap="flat">
              <a:solidFill>
                <a:srgbClr val="555555"/>
              </a:solidFill>
              <a:prstDash val="solid"/>
              <a:round/>
            </a:ln>
          </a:insideH>
          <a:insideV>
            <a:ln w="12700" cap="flat">
              <a:solidFill>
                <a:srgbClr val="555555"/>
              </a:solidFill>
              <a:prstDash val="solid"/>
              <a:round/>
            </a:ln>
          </a:insideV>
        </a:tcBdr>
        <a:fill>
          <a:noFill/>
        </a:fill>
      </a:tcStyle>
    </a:lastRow>
    <a:firstRow>
      <a:tcTxStyle b="on" i="off">
        <a:fontRef idx="major">
          <a:srgbClr val="555555"/>
        </a:fontRef>
        <a:srgbClr val="555555"/>
      </a:tcTxStyle>
      <a:tcStyle>
        <a:tcBdr>
          <a:left>
            <a:ln w="12700" cap="flat">
              <a:solidFill>
                <a:srgbClr val="555555"/>
              </a:solidFill>
              <a:prstDash val="solid"/>
              <a:round/>
            </a:ln>
          </a:left>
          <a:right>
            <a:ln w="12700" cap="flat">
              <a:solidFill>
                <a:srgbClr val="555555"/>
              </a:solidFill>
              <a:prstDash val="solid"/>
              <a:round/>
            </a:ln>
          </a:right>
          <a:top>
            <a:ln w="12700" cap="flat">
              <a:solidFill>
                <a:srgbClr val="555555"/>
              </a:solidFill>
              <a:prstDash val="solid"/>
              <a:round/>
            </a:ln>
          </a:top>
          <a:bottom>
            <a:ln w="25400" cap="flat">
              <a:solidFill>
                <a:srgbClr val="555555"/>
              </a:solidFill>
              <a:prstDash val="solid"/>
              <a:round/>
            </a:ln>
          </a:bottom>
          <a:insideH>
            <a:ln w="12700" cap="flat">
              <a:solidFill>
                <a:srgbClr val="555555"/>
              </a:solidFill>
              <a:prstDash val="solid"/>
              <a:round/>
            </a:ln>
          </a:insideH>
          <a:insideV>
            <a:ln w="12700" cap="flat">
              <a:solidFill>
                <a:srgbClr val="555555"/>
              </a:solidFill>
              <a:prstDash val="solid"/>
              <a:round/>
            </a:ln>
          </a:insideV>
        </a:tcBdr>
        <a:fill>
          <a:no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47"/>
    <p:restoredTop sz="94696"/>
  </p:normalViewPr>
  <p:slideViewPr>
    <p:cSldViewPr snapToGrid="0">
      <p:cViewPr>
        <p:scale>
          <a:sx n="44" d="100"/>
          <a:sy n="44" d="100"/>
        </p:scale>
        <p:origin x="520"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 name="Shape 46"/>
          <p:cNvSpPr>
            <a:spLocks noGrp="1" noRot="1" noChangeAspect="1"/>
          </p:cNvSpPr>
          <p:nvPr>
            <p:ph type="sldImg"/>
          </p:nvPr>
        </p:nvSpPr>
        <p:spPr>
          <a:xfrm>
            <a:off x="1143000" y="685800"/>
            <a:ext cx="4572000" cy="3429000"/>
          </a:xfrm>
          <a:prstGeom prst="rect">
            <a:avLst/>
          </a:prstGeom>
        </p:spPr>
        <p:txBody>
          <a:bodyPr/>
          <a:lstStyle/>
          <a:p>
            <a:endParaRPr/>
          </a:p>
        </p:txBody>
      </p:sp>
      <p:sp>
        <p:nvSpPr>
          <p:cNvPr id="47" name="Shape 4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a:latin typeface="Calibri"/>
                <a:ea typeface="Calibri"/>
                <a:cs typeface="Calibri"/>
              </a:rPr>
              <a:t>Yassine – Introduction</a:t>
            </a:r>
          </a:p>
          <a:p>
            <a:endParaRPr lang="en-US">
              <a:solidFill>
                <a:srgbClr val="000000"/>
              </a:solidFill>
              <a:latin typeface="Calibri"/>
              <a:ea typeface="Calibri"/>
              <a:cs typeface="Calibri"/>
            </a:endParaRPr>
          </a:p>
          <a:p>
            <a:pPr algn="l"/>
            <a:r>
              <a:rPr lang="en-US">
                <a:solidFill>
                  <a:srgbClr val="000000"/>
                </a:solidFill>
              </a:rPr>
              <a:t>La </a:t>
            </a:r>
            <a:r>
              <a:rPr lang="en-US" err="1">
                <a:solidFill>
                  <a:srgbClr val="000000"/>
                </a:solidFill>
              </a:rPr>
              <a:t>présentation</a:t>
            </a:r>
            <a:r>
              <a:rPr lang="en-US">
                <a:solidFill>
                  <a:srgbClr val="000000"/>
                </a:solidFill>
              </a:rPr>
              <a:t> </a:t>
            </a:r>
            <a:r>
              <a:rPr lang="en-US" err="1">
                <a:solidFill>
                  <a:srgbClr val="000000"/>
                </a:solidFill>
              </a:rPr>
              <a:t>devra</a:t>
            </a:r>
            <a:r>
              <a:rPr lang="en-US">
                <a:solidFill>
                  <a:srgbClr val="000000"/>
                </a:solidFill>
              </a:rPr>
              <a:t> démontrer que </a:t>
            </a:r>
            <a:endParaRPr lang="en-US"/>
          </a:p>
          <a:p>
            <a:pPr algn="l"/>
            <a:r>
              <a:rPr lang="en-US">
                <a:solidFill>
                  <a:srgbClr val="000000"/>
                </a:solidFill>
              </a:rPr>
              <a:t>- (1) vous </a:t>
            </a:r>
            <a:r>
              <a:rPr lang="en-US" err="1">
                <a:solidFill>
                  <a:srgbClr val="000000"/>
                </a:solidFill>
              </a:rPr>
              <a:t>vous</a:t>
            </a:r>
            <a:r>
              <a:rPr lang="en-US">
                <a:solidFill>
                  <a:srgbClr val="000000"/>
                </a:solidFill>
              </a:rPr>
              <a:t> </a:t>
            </a:r>
            <a:r>
              <a:rPr lang="en-US" err="1">
                <a:solidFill>
                  <a:srgbClr val="000000"/>
                </a:solidFill>
              </a:rPr>
              <a:t>êtes</a:t>
            </a:r>
            <a:r>
              <a:rPr lang="en-US">
                <a:solidFill>
                  <a:srgbClr val="000000"/>
                </a:solidFill>
              </a:rPr>
              <a:t> bien </a:t>
            </a:r>
            <a:r>
              <a:rPr lang="en-US" err="1">
                <a:solidFill>
                  <a:srgbClr val="000000"/>
                </a:solidFill>
              </a:rPr>
              <a:t>approprié</a:t>
            </a:r>
            <a:r>
              <a:rPr lang="en-US">
                <a:solidFill>
                  <a:srgbClr val="000000"/>
                </a:solidFill>
              </a:rPr>
              <a:t> le </a:t>
            </a:r>
            <a:r>
              <a:rPr lang="en-US" err="1">
                <a:solidFill>
                  <a:srgbClr val="000000"/>
                </a:solidFill>
              </a:rPr>
              <a:t>projet</a:t>
            </a:r>
            <a:r>
              <a:rPr lang="en-US">
                <a:solidFill>
                  <a:srgbClr val="000000"/>
                </a:solidFill>
              </a:rPr>
              <a:t> (</a:t>
            </a:r>
            <a:r>
              <a:rPr lang="en-US" err="1">
                <a:solidFill>
                  <a:srgbClr val="000000"/>
                </a:solidFill>
              </a:rPr>
              <a:t>contexte</a:t>
            </a:r>
            <a:r>
              <a:rPr lang="en-US">
                <a:solidFill>
                  <a:srgbClr val="000000"/>
                </a:solidFill>
              </a:rPr>
              <a:t>, </a:t>
            </a:r>
            <a:r>
              <a:rPr lang="en-US" err="1">
                <a:solidFill>
                  <a:srgbClr val="000000"/>
                </a:solidFill>
              </a:rPr>
              <a:t>problématique</a:t>
            </a:r>
            <a:r>
              <a:rPr lang="en-US">
                <a:solidFill>
                  <a:srgbClr val="000000"/>
                </a:solidFill>
              </a:rPr>
              <a:t>, identification des </a:t>
            </a:r>
            <a:r>
              <a:rPr lang="en-US" err="1">
                <a:solidFill>
                  <a:srgbClr val="000000"/>
                </a:solidFill>
              </a:rPr>
              <a:t>verrous</a:t>
            </a:r>
            <a:r>
              <a:rPr lang="en-US">
                <a:solidFill>
                  <a:srgbClr val="000000"/>
                </a:solidFill>
              </a:rPr>
              <a:t> </a:t>
            </a:r>
            <a:r>
              <a:rPr lang="en-US" err="1">
                <a:solidFill>
                  <a:srgbClr val="000000"/>
                </a:solidFill>
              </a:rPr>
              <a:t>scientifiques</a:t>
            </a:r>
            <a:r>
              <a:rPr lang="en-US">
                <a:solidFill>
                  <a:srgbClr val="000000"/>
                </a:solidFill>
              </a:rPr>
              <a:t>) </a:t>
            </a:r>
            <a:endParaRPr lang="en-US"/>
          </a:p>
          <a:p>
            <a:pPr algn="l"/>
            <a:r>
              <a:rPr lang="en-US">
                <a:solidFill>
                  <a:srgbClr val="000000"/>
                </a:solidFill>
              </a:rPr>
              <a:t>- (2) vous </a:t>
            </a:r>
            <a:r>
              <a:rPr lang="en-US" err="1">
                <a:solidFill>
                  <a:srgbClr val="000000"/>
                </a:solidFill>
              </a:rPr>
              <a:t>avez</a:t>
            </a:r>
            <a:r>
              <a:rPr lang="en-US">
                <a:solidFill>
                  <a:srgbClr val="000000"/>
                </a:solidFill>
              </a:rPr>
              <a:t> </a:t>
            </a:r>
            <a:r>
              <a:rPr lang="en-US" err="1">
                <a:solidFill>
                  <a:srgbClr val="000000"/>
                </a:solidFill>
              </a:rPr>
              <a:t>amorcé</a:t>
            </a:r>
            <a:r>
              <a:rPr lang="en-US">
                <a:solidFill>
                  <a:srgbClr val="000000"/>
                </a:solidFill>
              </a:rPr>
              <a:t> le travail (par </a:t>
            </a:r>
            <a:r>
              <a:rPr lang="en-US" err="1">
                <a:solidFill>
                  <a:srgbClr val="000000"/>
                </a:solidFill>
              </a:rPr>
              <a:t>exemple</a:t>
            </a:r>
            <a:r>
              <a:rPr lang="en-US">
                <a:solidFill>
                  <a:srgbClr val="000000"/>
                </a:solidFill>
              </a:rPr>
              <a:t> </a:t>
            </a:r>
            <a:r>
              <a:rPr lang="en-US" err="1">
                <a:solidFill>
                  <a:srgbClr val="000000"/>
                </a:solidFill>
              </a:rPr>
              <a:t>prise</a:t>
            </a:r>
            <a:r>
              <a:rPr lang="en-US">
                <a:solidFill>
                  <a:srgbClr val="000000"/>
                </a:solidFill>
              </a:rPr>
              <a:t> </a:t>
            </a:r>
            <a:r>
              <a:rPr lang="en-US" err="1">
                <a:solidFill>
                  <a:srgbClr val="000000"/>
                </a:solidFill>
              </a:rPr>
              <a:t>en</a:t>
            </a:r>
            <a:r>
              <a:rPr lang="en-US">
                <a:solidFill>
                  <a:srgbClr val="000000"/>
                </a:solidFill>
              </a:rPr>
              <a:t> main des données) et </a:t>
            </a:r>
            <a:r>
              <a:rPr lang="en-US" err="1">
                <a:solidFill>
                  <a:srgbClr val="000000"/>
                </a:solidFill>
              </a:rPr>
              <a:t>cerné</a:t>
            </a:r>
            <a:r>
              <a:rPr lang="en-US">
                <a:solidFill>
                  <a:srgbClr val="000000"/>
                </a:solidFill>
              </a:rPr>
              <a:t> les </a:t>
            </a:r>
            <a:r>
              <a:rPr lang="en-US" err="1">
                <a:solidFill>
                  <a:srgbClr val="000000"/>
                </a:solidFill>
              </a:rPr>
              <a:t>pistes</a:t>
            </a:r>
            <a:r>
              <a:rPr lang="en-US">
                <a:solidFill>
                  <a:srgbClr val="000000"/>
                </a:solidFill>
              </a:rPr>
              <a:t> à </a:t>
            </a:r>
            <a:r>
              <a:rPr lang="en-US" err="1">
                <a:solidFill>
                  <a:srgbClr val="000000"/>
                </a:solidFill>
              </a:rPr>
              <a:t>implémenter</a:t>
            </a:r>
            <a:r>
              <a:rPr lang="en-US">
                <a:solidFill>
                  <a:srgbClr val="000000"/>
                </a:solidFill>
              </a:rPr>
              <a:t> (</a:t>
            </a:r>
            <a:r>
              <a:rPr lang="en-US" err="1">
                <a:solidFill>
                  <a:srgbClr val="000000"/>
                </a:solidFill>
              </a:rPr>
              <a:t>bibliographie</a:t>
            </a:r>
            <a:r>
              <a:rPr lang="en-US">
                <a:solidFill>
                  <a:srgbClr val="000000"/>
                </a:solidFill>
              </a:rPr>
              <a:t>).</a:t>
            </a:r>
            <a:endParaRPr lang="en-US"/>
          </a:p>
          <a:p>
            <a:pPr algn="l"/>
            <a:r>
              <a:rPr lang="en-US">
                <a:solidFill>
                  <a:srgbClr val="000000"/>
                </a:solidFill>
              </a:rPr>
              <a:t>- (3) vous </a:t>
            </a:r>
            <a:r>
              <a:rPr lang="en-US" err="1">
                <a:solidFill>
                  <a:srgbClr val="000000"/>
                </a:solidFill>
              </a:rPr>
              <a:t>avez</a:t>
            </a:r>
            <a:r>
              <a:rPr lang="en-US">
                <a:solidFill>
                  <a:srgbClr val="000000"/>
                </a:solidFill>
              </a:rPr>
              <a:t> </a:t>
            </a:r>
            <a:r>
              <a:rPr lang="en-US" err="1">
                <a:solidFill>
                  <a:srgbClr val="000000"/>
                </a:solidFill>
              </a:rPr>
              <a:t>réfléchi</a:t>
            </a:r>
            <a:r>
              <a:rPr lang="en-US">
                <a:solidFill>
                  <a:srgbClr val="000000"/>
                </a:solidFill>
              </a:rPr>
              <a:t> à </a:t>
            </a:r>
            <a:r>
              <a:rPr lang="en-US" err="1">
                <a:solidFill>
                  <a:srgbClr val="000000"/>
                </a:solidFill>
              </a:rPr>
              <a:t>l’organisation</a:t>
            </a:r>
            <a:r>
              <a:rPr lang="en-US">
                <a:solidFill>
                  <a:srgbClr val="000000"/>
                </a:solidFill>
              </a:rPr>
              <a:t> du travail à </a:t>
            </a:r>
            <a:r>
              <a:rPr lang="en-US" err="1">
                <a:solidFill>
                  <a:srgbClr val="000000"/>
                </a:solidFill>
              </a:rPr>
              <a:t>venir</a:t>
            </a:r>
            <a:r>
              <a:rPr lang="en-US">
                <a:solidFill>
                  <a:srgbClr val="000000"/>
                </a:solidFill>
              </a:rPr>
              <a:t> (</a:t>
            </a:r>
            <a:r>
              <a:rPr lang="en-US" err="1">
                <a:solidFill>
                  <a:srgbClr val="000000"/>
                </a:solidFill>
              </a:rPr>
              <a:t>exemple</a:t>
            </a:r>
            <a:r>
              <a:rPr lang="en-US">
                <a:solidFill>
                  <a:srgbClr val="000000"/>
                </a:solidFill>
              </a:rPr>
              <a:t> </a:t>
            </a:r>
            <a:r>
              <a:rPr lang="en-US" err="1">
                <a:solidFill>
                  <a:srgbClr val="000000"/>
                </a:solidFill>
              </a:rPr>
              <a:t>diagramme</a:t>
            </a:r>
            <a:r>
              <a:rPr lang="en-US">
                <a:solidFill>
                  <a:srgbClr val="000000"/>
                </a:solidFill>
              </a:rPr>
              <a:t> de Gant </a:t>
            </a:r>
            <a:r>
              <a:rPr lang="en-US" err="1">
                <a:solidFill>
                  <a:srgbClr val="000000"/>
                </a:solidFill>
              </a:rPr>
              <a:t>ou</a:t>
            </a:r>
            <a:r>
              <a:rPr lang="en-US">
                <a:solidFill>
                  <a:srgbClr val="000000"/>
                </a:solidFill>
              </a:rPr>
              <a:t> </a:t>
            </a:r>
            <a:r>
              <a:rPr lang="en-US" err="1">
                <a:solidFill>
                  <a:srgbClr val="000000"/>
                </a:solidFill>
              </a:rPr>
              <a:t>autre</a:t>
            </a:r>
            <a:r>
              <a:rPr lang="en-US">
                <a:solidFill>
                  <a:srgbClr val="000000"/>
                </a:solidFill>
              </a:rPr>
              <a:t>). </a:t>
            </a:r>
            <a:endParaRPr lang="en-US"/>
          </a:p>
          <a:p>
            <a:pPr algn="l"/>
            <a:r>
              <a:rPr lang="en-US">
                <a:solidFill>
                  <a:srgbClr val="000000"/>
                </a:solidFill>
              </a:rPr>
              <a:t> </a:t>
            </a:r>
            <a:endParaRPr lang="en-US"/>
          </a:p>
          <a:p>
            <a:pPr algn="l"/>
            <a:r>
              <a:rPr lang="en-US">
                <a:solidFill>
                  <a:srgbClr val="000000"/>
                </a:solidFill>
              </a:rPr>
              <a:t>P2 : Vous présenterez le contexte, les enjeux, l'état de l'art, les objectifs et les indicateurs associés. Vous préciserez les moyens humains et techniques ainsi que le planning des cinq mois en anticipant les difficultés et leurs solutions.</a:t>
            </a:r>
            <a:endParaRPr lang="en-US"/>
          </a:p>
          <a:p>
            <a:pPr algn="l"/>
            <a:r>
              <a:rPr lang="en-US">
                <a:solidFill>
                  <a:srgbClr val="000000"/>
                </a:solidFill>
              </a:rPr>
              <a:t> </a:t>
            </a:r>
            <a:endParaRPr lang="en-US"/>
          </a:p>
          <a:p>
            <a:pPr algn="l"/>
            <a:r>
              <a:rPr lang="en-US">
                <a:solidFill>
                  <a:srgbClr val="000000"/>
                </a:solidFill>
              </a:rPr>
              <a:t>Plan: </a:t>
            </a:r>
            <a:endParaRPr lang="en-US"/>
          </a:p>
          <a:p>
            <a:pPr algn="l"/>
            <a:r>
              <a:rPr lang="en-US">
                <a:solidFill>
                  <a:srgbClr val="000000"/>
                </a:solidFill>
              </a:rPr>
              <a:t>Yassine: Intro, Data, Roadmap </a:t>
            </a:r>
            <a:endParaRPr lang="en-US"/>
          </a:p>
          <a:p>
            <a:pPr algn="l"/>
            <a:r>
              <a:rPr lang="en-US">
                <a:solidFill>
                  <a:srgbClr val="000000"/>
                </a:solidFill>
              </a:rPr>
              <a:t>Andrew: </a:t>
            </a:r>
            <a:r>
              <a:rPr lang="en-US" err="1">
                <a:solidFill>
                  <a:srgbClr val="000000"/>
                </a:solidFill>
              </a:rPr>
              <a:t>Méthodo</a:t>
            </a:r>
            <a:endParaRPr lang="en-US"/>
          </a:p>
          <a:p>
            <a:pPr algn="l"/>
            <a:r>
              <a:rPr lang="en-US">
                <a:solidFill>
                  <a:srgbClr val="000000"/>
                </a:solidFill>
              </a:rPr>
              <a:t>Julien: </a:t>
            </a:r>
            <a:r>
              <a:rPr lang="en-US" err="1">
                <a:solidFill>
                  <a:srgbClr val="000000"/>
                </a:solidFill>
              </a:rPr>
              <a:t>Contexte</a:t>
            </a:r>
            <a:r>
              <a:rPr lang="en-US">
                <a:solidFill>
                  <a:srgbClr val="000000"/>
                </a:solidFill>
              </a:rPr>
              <a:t>, </a:t>
            </a:r>
            <a:r>
              <a:rPr lang="en-US" err="1">
                <a:solidFill>
                  <a:srgbClr val="000000"/>
                </a:solidFill>
              </a:rPr>
              <a:t>Enjeux</a:t>
            </a:r>
            <a:endParaRPr lang="en-US"/>
          </a:p>
          <a:p>
            <a:pPr algn="l"/>
            <a:r>
              <a:rPr lang="en-US">
                <a:solidFill>
                  <a:srgbClr val="000000"/>
                </a:solidFill>
              </a:rPr>
              <a:t>Mohamed: Technique (LLM, RaG)</a:t>
            </a:r>
            <a:endParaRPr lang="en-US"/>
          </a:p>
          <a:p>
            <a:pPr algn="l"/>
            <a:r>
              <a:rPr lang="en-US">
                <a:solidFill>
                  <a:srgbClr val="000000"/>
                </a:solidFill>
              </a:rPr>
              <a:t>Andraanick: Technique (Cluster Télécom)</a:t>
            </a:r>
            <a:endParaRPr lang="en-US"/>
          </a:p>
          <a:p>
            <a:pPr algn="l"/>
            <a:r>
              <a:rPr lang="en-US">
                <a:solidFill>
                  <a:srgbClr val="000000"/>
                </a:solidFill>
              </a:rPr>
              <a:t> </a:t>
            </a:r>
            <a:endParaRPr lang="en-US"/>
          </a:p>
          <a:p>
            <a:pPr algn="l"/>
            <a:r>
              <a:rPr lang="en-US">
                <a:solidFill>
                  <a:srgbClr val="000000"/>
                </a:solidFill>
              </a:rPr>
              <a:t>1minute 30 par slide x 10 slides = 15 minutes</a:t>
            </a:r>
            <a:endParaRPr lang="en-US"/>
          </a:p>
          <a:p>
            <a:pPr algn="l"/>
            <a:r>
              <a:rPr lang="en-US">
                <a:solidFill>
                  <a:srgbClr val="000000"/>
                </a:solidFill>
              </a:rPr>
              <a:t>Chaque personne présente 2 slides.</a:t>
            </a:r>
            <a:endParaRPr lang="en-US"/>
          </a:p>
          <a:p>
            <a:endParaRPr lang="en-US">
              <a:solidFill>
                <a:srgbClr val="000000"/>
              </a:solidFill>
              <a:latin typeface="Calibri"/>
              <a:ea typeface="Calibri"/>
              <a:cs typeface="Calibri"/>
            </a:endParaRPr>
          </a:p>
        </p:txBody>
      </p:sp>
    </p:spTree>
    <p:extLst>
      <p:ext uri="{BB962C8B-B14F-4D97-AF65-F5344CB8AC3E}">
        <p14:creationId xmlns:p14="http://schemas.microsoft.com/office/powerpoint/2010/main" val="2361774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165207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9A8B7-C64D-64CE-5040-0DDB9405E03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C935BF1-3682-C089-C604-9BE240F51DC9}"/>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12DE7FA6-6717-8BDD-0F3B-67EBC212654F}"/>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4276115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74254-86A1-1447-22DD-71C9747D93C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CB9E180-A493-96D9-D108-29566E6B7631}"/>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F5702F87-3926-8CDB-0FF3-BDA4698298EB}"/>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13571394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FE4F5-D317-DA57-BEE9-3F15FA8F059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91B4CCD-3E05-C9EF-3D6D-2207385E5DD6}"/>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249A877C-DF3F-84B7-DF62-BCFF4E664CD9}"/>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1157595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3E74E-D95D-FC27-804B-34C6F2E14EA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6B0C1BA-0B7D-DCC9-2F21-680EED795B80}"/>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86B67260-2355-6D49-34B7-FE21EEFCD2BE}"/>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13316044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9C140-A297-FB47-3A3A-7DE95415161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E9CA6C-D8A7-DE43-E33D-688FE3A2E3AA}"/>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1718EB59-5606-674A-1716-932B9A37FA38}"/>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24605903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0AD06-D35C-B129-F151-40B6AE305B5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32FD7F8-1E3B-E0DD-EA3C-0B99AED51E73}"/>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6FE331A9-81C5-1ED1-03E6-D9053E2803D9}"/>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3669275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19B65-3C99-805E-291D-39107BA71A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BED3276-32CB-9948-E877-2313B4B546C4}"/>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6F068434-26A5-4C65-4D94-143154833472}"/>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40908661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DE59C-2D29-D53E-5CE8-7784154BCF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CE7B71D-44A5-4282-8E0A-A587F0A74DD4}"/>
              </a:ext>
            </a:extLst>
          </p:cNvPr>
          <p:cNvSpPr>
            <a:spLocks noGrp="1" noRot="1" noChangeAspect="1"/>
          </p:cNvSpPr>
          <p:nvPr>
            <p:ph type="sldImg"/>
          </p:nvPr>
        </p:nvSpPr>
        <p:spPr>
          <a:xfrm>
            <a:off x="381000" y="685800"/>
            <a:ext cx="6096000" cy="3429000"/>
          </a:xfrm>
        </p:spPr>
      </p:sp>
      <p:sp>
        <p:nvSpPr>
          <p:cNvPr id="3" name="Espace réservé des notes 2">
            <a:extLst>
              <a:ext uri="{FF2B5EF4-FFF2-40B4-BE49-F238E27FC236}">
                <a16:creationId xmlns:a16="http://schemas.microsoft.com/office/drawing/2014/main" id="{1F43B03F-1D1C-E4C2-9E6C-FB99CEB18DF1}"/>
              </a:ext>
            </a:extLst>
          </p:cNvPr>
          <p:cNvSpPr>
            <a:spLocks noGrp="1"/>
          </p:cNvSpPr>
          <p:nvPr>
            <p:ph type="body" idx="1"/>
          </p:nvPr>
        </p:nvSpPr>
        <p:spPr/>
        <p:txBody>
          <a:bodyPr/>
          <a:lstStyle/>
          <a:p>
            <a:r>
              <a:rPr lang="en-US">
                <a:solidFill>
                  <a:srgbClr val="000000"/>
                </a:solidFill>
                <a:latin typeface="Calibri"/>
                <a:ea typeface="Calibri"/>
                <a:cs typeface="Calibri"/>
              </a:rPr>
              <a:t>Julien – 1 minute 30</a:t>
            </a:r>
          </a:p>
        </p:txBody>
      </p:sp>
    </p:spTree>
    <p:extLst>
      <p:ext uri="{BB962C8B-B14F-4D97-AF65-F5344CB8AC3E}">
        <p14:creationId xmlns:p14="http://schemas.microsoft.com/office/powerpoint/2010/main" val="3347075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re">
    <p:bg>
      <p:bgPr>
        <a:gradFill flip="none" rotWithShape="1">
          <a:gsLst>
            <a:gs pos="0">
              <a:srgbClr val="BF1238"/>
            </a:gs>
            <a:gs pos="100000">
              <a:srgbClr val="FA3061"/>
            </a:gs>
          </a:gsLst>
          <a:lin ang="5400000" scaled="0"/>
        </a:gradFill>
        <a:effectLst/>
      </p:bgPr>
    </p:bg>
    <p:spTree>
      <p:nvGrpSpPr>
        <p:cNvPr id="1" name=""/>
        <p:cNvGrpSpPr/>
        <p:nvPr/>
      </p:nvGrpSpPr>
      <p:grpSpPr>
        <a:xfrm>
          <a:off x="0" y="0"/>
          <a:ext cx="0" cy="0"/>
          <a:chOff x="0" y="0"/>
          <a:chExt cx="0" cy="0"/>
        </a:xfrm>
      </p:grpSpPr>
      <p:sp>
        <p:nvSpPr>
          <p:cNvPr id="13" name="Titre de la présentation"/>
          <p:cNvSpPr txBox="1">
            <a:spLocks noGrp="1"/>
          </p:cNvSpPr>
          <p:nvPr>
            <p:ph type="title" hasCustomPrompt="1"/>
          </p:nvPr>
        </p:nvSpPr>
        <p:spPr>
          <a:xfrm>
            <a:off x="1206496" y="2574991"/>
            <a:ext cx="21971005" cy="4648203"/>
          </a:xfrm>
          <a:prstGeom prst="rect">
            <a:avLst/>
          </a:prstGeom>
        </p:spPr>
        <p:txBody>
          <a:bodyPr anchor="b"/>
          <a:lstStyle>
            <a:lvl1pPr defTabSz="2438337">
              <a:lnSpc>
                <a:spcPct val="80000"/>
              </a:lnSpc>
              <a:defRPr sz="10000" b="1" spc="-200">
                <a:gradFill flip="none" rotWithShape="1">
                  <a:gsLst>
                    <a:gs pos="0">
                      <a:srgbClr val="FAFAFA"/>
                    </a:gs>
                    <a:gs pos="100000">
                      <a:srgbClr val="D7D7D7"/>
                    </a:gs>
                  </a:gsLst>
                  <a:lin ang="5400000" scaled="0"/>
                </a:gradFill>
              </a:defRPr>
            </a:lvl1pPr>
          </a:lstStyle>
          <a:p>
            <a:r>
              <a:t>Titre de la présentation</a:t>
            </a:r>
          </a:p>
        </p:txBody>
      </p:sp>
      <p:sp>
        <p:nvSpPr>
          <p:cNvPr id="14" name="Numéro de diapositive"/>
          <p:cNvSpPr txBox="1">
            <a:spLocks noGrp="1"/>
          </p:cNvSpPr>
          <p:nvPr>
            <p:ph type="sldNum" sz="quarter" idx="2"/>
          </p:nvPr>
        </p:nvSpPr>
        <p:spPr>
          <a:xfrm>
            <a:off x="12185750" y="12872825"/>
            <a:ext cx="594594" cy="582774"/>
          </a:xfrm>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21" name="Titre général"/>
          <p:cNvSpPr txBox="1">
            <a:spLocks noGrp="1"/>
          </p:cNvSpPr>
          <p:nvPr>
            <p:ph type="title" hasCustomPrompt="1"/>
          </p:nvPr>
        </p:nvSpPr>
        <p:spPr>
          <a:prstGeom prst="rect">
            <a:avLst/>
          </a:prstGeom>
        </p:spPr>
        <p:txBody>
          <a:bodyPr/>
          <a:lstStyle/>
          <a:p>
            <a:r>
              <a:t>Titre général</a:t>
            </a:r>
          </a:p>
        </p:txBody>
      </p:sp>
      <p:sp>
        <p:nvSpPr>
          <p:cNvPr id="22" name="Numéro de diapositive"/>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re et photo">
    <p:spTree>
      <p:nvGrpSpPr>
        <p:cNvPr id="1" name=""/>
        <p:cNvGrpSpPr/>
        <p:nvPr/>
      </p:nvGrpSpPr>
      <p:grpSpPr>
        <a:xfrm>
          <a:off x="0" y="0"/>
          <a:ext cx="0" cy="0"/>
          <a:chOff x="0" y="0"/>
          <a:chExt cx="0" cy="0"/>
        </a:xfrm>
      </p:grpSpPr>
      <p:sp>
        <p:nvSpPr>
          <p:cNvPr id="37" name="666699290_02_crop_3159x1892.jpg"/>
          <p:cNvSpPr>
            <a:spLocks noGrp="1"/>
          </p:cNvSpPr>
          <p:nvPr>
            <p:ph type="pic" idx="21"/>
          </p:nvPr>
        </p:nvSpPr>
        <p:spPr>
          <a:xfrm>
            <a:off x="-1155700" y="-1295400"/>
            <a:ext cx="26746200" cy="16018933"/>
          </a:xfrm>
          <a:prstGeom prst="rect">
            <a:avLst/>
          </a:prstGeom>
        </p:spPr>
        <p:txBody>
          <a:bodyPr lIns="91439" tIns="45719" rIns="91439" bIns="45719">
            <a:noAutofit/>
          </a:bodyPr>
          <a:lstStyle/>
          <a:p>
            <a:endParaRPr/>
          </a:p>
        </p:txBody>
      </p:sp>
      <p:sp>
        <p:nvSpPr>
          <p:cNvPr id="38" name="Titre de la présentation"/>
          <p:cNvSpPr txBox="1">
            <a:spLocks noGrp="1"/>
          </p:cNvSpPr>
          <p:nvPr>
            <p:ph type="title" hasCustomPrompt="1"/>
          </p:nvPr>
        </p:nvSpPr>
        <p:spPr>
          <a:xfrm>
            <a:off x="1206500" y="7124700"/>
            <a:ext cx="21971000" cy="4648200"/>
          </a:xfrm>
          <a:prstGeom prst="rect">
            <a:avLst/>
          </a:prstGeom>
        </p:spPr>
        <p:txBody>
          <a:bodyPr anchor="b"/>
          <a:lstStyle>
            <a:lvl1pPr defTabSz="2340804">
              <a:lnSpc>
                <a:spcPct val="80000"/>
              </a:lnSpc>
              <a:defRPr sz="8100" spc="-163">
                <a:gradFill flip="none" rotWithShape="1">
                  <a:gsLst>
                    <a:gs pos="0">
                      <a:srgbClr val="FFFFFF"/>
                    </a:gs>
                    <a:gs pos="100000">
                      <a:srgbClr val="D7D7D7"/>
                    </a:gs>
                  </a:gsLst>
                  <a:lin ang="5400000" scaled="0"/>
                </a:gradFill>
                <a:latin typeface="DINOT-Regular"/>
                <a:ea typeface="DINOT-Regular"/>
                <a:cs typeface="DINOT-Regular"/>
                <a:sym typeface="DINOT-Regular"/>
              </a:defRPr>
            </a:lvl1pPr>
          </a:lstStyle>
          <a:p>
            <a:r>
              <a:t>Titre de la présentation</a:t>
            </a:r>
          </a:p>
        </p:txBody>
      </p:sp>
      <p:sp>
        <p:nvSpPr>
          <p:cNvPr id="39" name="Texte niveau 1…"/>
          <p:cNvSpPr txBox="1">
            <a:spLocks noGrp="1"/>
          </p:cNvSpPr>
          <p:nvPr>
            <p:ph type="body" sz="quarter" idx="1" hasCustomPrompt="1"/>
          </p:nvPr>
        </p:nvSpPr>
        <p:spPr>
          <a:xfrm>
            <a:off x="1206500" y="11609909"/>
            <a:ext cx="21971000" cy="1116954"/>
          </a:xfrm>
          <a:prstGeom prst="rect">
            <a:avLst/>
          </a:prstGeom>
        </p:spPr>
        <p:txBody>
          <a:bodyPr/>
          <a:lstStyle>
            <a:lvl1pPr marL="0" indent="0" defTabSz="825500">
              <a:spcBef>
                <a:spcPts val="0"/>
              </a:spcBef>
              <a:buClrTx/>
              <a:buSzTx/>
              <a:buNone/>
              <a:defRPr sz="5500">
                <a:gradFill flip="none" rotWithShape="1">
                  <a:gsLst>
                    <a:gs pos="0">
                      <a:srgbClr val="FFFFFF"/>
                    </a:gs>
                    <a:gs pos="100000">
                      <a:srgbClr val="D7D7D7"/>
                    </a:gs>
                  </a:gsLst>
                  <a:lin ang="5400000" scaled="0"/>
                </a:gradFill>
              </a:defRPr>
            </a:lvl1pPr>
            <a:lvl2pPr marL="1308100" indent="-698500" defTabSz="825500">
              <a:spcBef>
                <a:spcPts val="0"/>
              </a:spcBef>
              <a:buClrTx/>
              <a:defRPr sz="5500">
                <a:gradFill flip="none" rotWithShape="1">
                  <a:gsLst>
                    <a:gs pos="0">
                      <a:srgbClr val="FFFFFF"/>
                    </a:gs>
                    <a:gs pos="100000">
                      <a:srgbClr val="D7D7D7"/>
                    </a:gs>
                  </a:gsLst>
                  <a:lin ang="5400000" scaled="0"/>
                </a:gradFill>
              </a:defRPr>
            </a:lvl2pPr>
            <a:lvl3pPr marL="1917700" indent="-698500" defTabSz="825500">
              <a:spcBef>
                <a:spcPts val="0"/>
              </a:spcBef>
              <a:buClrTx/>
              <a:defRPr sz="5500">
                <a:gradFill flip="none" rotWithShape="1">
                  <a:gsLst>
                    <a:gs pos="0">
                      <a:srgbClr val="FFFFFF"/>
                    </a:gs>
                    <a:gs pos="100000">
                      <a:srgbClr val="D7D7D7"/>
                    </a:gs>
                  </a:gsLst>
                  <a:lin ang="5400000" scaled="0"/>
                </a:gradFill>
              </a:defRPr>
            </a:lvl3pPr>
            <a:lvl4pPr marL="2527300" indent="-698500" defTabSz="825500">
              <a:spcBef>
                <a:spcPts val="0"/>
              </a:spcBef>
              <a:buClrTx/>
              <a:defRPr sz="5500">
                <a:gradFill flip="none" rotWithShape="1">
                  <a:gsLst>
                    <a:gs pos="0">
                      <a:srgbClr val="FFFFFF"/>
                    </a:gs>
                    <a:gs pos="100000">
                      <a:srgbClr val="D7D7D7"/>
                    </a:gs>
                  </a:gsLst>
                  <a:lin ang="5400000" scaled="0"/>
                </a:gradFill>
              </a:defRPr>
            </a:lvl4pPr>
            <a:lvl5pPr marL="3136900" indent="-698500" defTabSz="825500">
              <a:spcBef>
                <a:spcPts val="0"/>
              </a:spcBef>
              <a:buClrTx/>
              <a:defRPr sz="5500">
                <a:gradFill flip="none" rotWithShape="1">
                  <a:gsLst>
                    <a:gs pos="0">
                      <a:srgbClr val="FFFFFF"/>
                    </a:gs>
                    <a:gs pos="100000">
                      <a:srgbClr val="D7D7D7"/>
                    </a:gs>
                  </a:gsLst>
                  <a:lin ang="5400000" scaled="0"/>
                </a:gradFill>
              </a:defRPr>
            </a:lvl5pPr>
          </a:lstStyle>
          <a:p>
            <a:r>
              <a:t>Sous-titre de la présentation</a:t>
            </a:r>
          </a:p>
          <a:p>
            <a:pPr lvl="1"/>
            <a:endParaRPr/>
          </a:p>
          <a:p>
            <a:pPr lvl="2"/>
            <a:endParaRPr/>
          </a:p>
          <a:p>
            <a:pPr lvl="3"/>
            <a:endParaRPr/>
          </a:p>
          <a:p>
            <a:pPr lvl="4"/>
            <a:endParaRPr/>
          </a:p>
        </p:txBody>
      </p:sp>
      <p:sp>
        <p:nvSpPr>
          <p:cNvPr id="40" name="Numéro de diapositive"/>
          <p:cNvSpPr txBox="1">
            <a:spLocks noGrp="1"/>
          </p:cNvSpPr>
          <p:nvPr>
            <p:ph type="sldNum" sz="quarter" idx="2"/>
          </p:nvPr>
        </p:nvSpPr>
        <p:spPr>
          <a:xfrm>
            <a:off x="12185750" y="12872825"/>
            <a:ext cx="594594" cy="582774"/>
          </a:xfrm>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p:cNvSpPr/>
          <p:nvPr/>
        </p:nvSpPr>
        <p:spPr>
          <a:xfrm>
            <a:off x="0" y="-50800"/>
            <a:ext cx="2489200" cy="13817600"/>
          </a:xfrm>
          <a:prstGeom prst="rect">
            <a:avLst/>
          </a:prstGeom>
          <a:solidFill>
            <a:srgbClr val="FFFFFF">
              <a:alpha val="79916"/>
            </a:srgbClr>
          </a:solidFill>
          <a:ln w="12700">
            <a:miter lim="400000"/>
          </a:ln>
          <a:effectLst>
            <a:outerShdw blurRad="254000" dist="252542" dir="20982190" rotWithShape="0">
              <a:srgbClr val="000000">
                <a:alpha val="20264"/>
              </a:srgbClr>
            </a:outerShdw>
          </a:effectLst>
        </p:spPr>
        <p:txBody>
          <a:bodyPr lIns="50800" tIns="50800" rIns="50800" bIns="50800" anchor="ctr"/>
          <a:lstStyle/>
          <a:p>
            <a:pPr algn="ctr" defTabSz="825500">
              <a:defRPr sz="3200">
                <a:solidFill>
                  <a:srgbClr val="FFFFFF"/>
                </a:solidFill>
                <a:latin typeface="Helvetica Neue Medium"/>
                <a:ea typeface="Helvetica Neue Medium"/>
                <a:cs typeface="Helvetica Neue Medium"/>
                <a:sym typeface="Helvetica Neue Medium"/>
              </a:defRPr>
            </a:pPr>
            <a:endParaRPr/>
          </a:p>
        </p:txBody>
      </p:sp>
      <p:pic>
        <p:nvPicPr>
          <p:cNvPr id="3" name="Logo_Telecom_IPParis_RVB_fond_V.ai" descr="Logo_Telecom_IPParis_RVB_fond_V.ai"/>
          <p:cNvPicPr>
            <a:picLocks noChangeAspect="1"/>
          </p:cNvPicPr>
          <p:nvPr/>
        </p:nvPicPr>
        <p:blipFill>
          <a:blip r:embed="rId5"/>
          <a:stretch>
            <a:fillRect/>
          </a:stretch>
        </p:blipFill>
        <p:spPr>
          <a:xfrm>
            <a:off x="484906" y="464557"/>
            <a:ext cx="1519388" cy="2245986"/>
          </a:xfrm>
          <a:prstGeom prst="rect">
            <a:avLst/>
          </a:prstGeom>
          <a:ln w="12700">
            <a:miter lim="400000"/>
          </a:ln>
        </p:spPr>
      </p:pic>
      <p:sp>
        <p:nvSpPr>
          <p:cNvPr id="4" name="Titre général"/>
          <p:cNvSpPr txBox="1">
            <a:spLocks noGrp="1"/>
          </p:cNvSpPr>
          <p:nvPr>
            <p:ph type="title" hasCustomPrompt="1"/>
          </p:nvPr>
        </p:nvSpPr>
        <p:spPr>
          <a:xfrm>
            <a:off x="3103329" y="6230875"/>
            <a:ext cx="20510108" cy="224598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ormAutofit/>
          </a:bodyPr>
          <a:lstStyle/>
          <a:p>
            <a:r>
              <a:t>Titre général</a:t>
            </a:r>
          </a:p>
        </p:txBody>
      </p:sp>
      <p:sp>
        <p:nvSpPr>
          <p:cNvPr id="5" name="Texte niveau 1…"/>
          <p:cNvSpPr txBox="1">
            <a:spLocks noGrp="1"/>
          </p:cNvSpPr>
          <p:nvPr>
            <p:ph type="body" idx="1"/>
          </p:nvPr>
        </p:nvSpPr>
        <p:spPr>
          <a:xfrm>
            <a:off x="1219200" y="3200400"/>
            <a:ext cx="21945600" cy="905192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ormAutofit/>
          </a:bodyPr>
          <a:lstStyle/>
          <a:p>
            <a:r>
              <a:t>Texte niveau 1</a:t>
            </a:r>
          </a:p>
          <a:p>
            <a:pPr lvl="1"/>
            <a:r>
              <a:t>Texte niveau 2</a:t>
            </a:r>
          </a:p>
          <a:p>
            <a:pPr lvl="2"/>
            <a:r>
              <a:t>Texte niveau 3</a:t>
            </a:r>
          </a:p>
          <a:p>
            <a:pPr lvl="3"/>
            <a:r>
              <a:t>Texte niveau 4</a:t>
            </a:r>
          </a:p>
          <a:p>
            <a:pPr lvl="4"/>
            <a:r>
              <a:t>Texte niveau 5</a:t>
            </a:r>
          </a:p>
        </p:txBody>
      </p:sp>
      <p:sp>
        <p:nvSpPr>
          <p:cNvPr id="6" name="Numéro de diapositive"/>
          <p:cNvSpPr txBox="1">
            <a:spLocks noGrp="1"/>
          </p:cNvSpPr>
          <p:nvPr>
            <p:ph type="sldNum" sz="quarter" idx="2"/>
          </p:nvPr>
        </p:nvSpPr>
        <p:spPr>
          <a:xfrm>
            <a:off x="12185750" y="12877058"/>
            <a:ext cx="594594" cy="582775"/>
          </a:xfrm>
          <a:prstGeom prst="rect">
            <a:avLst/>
          </a:prstGeom>
          <a:ln w="12700">
            <a:miter lim="400000"/>
          </a:ln>
        </p:spPr>
        <p:txBody>
          <a:bodyPr wrap="none" lIns="50800" tIns="50800" rIns="50800" bIns="50800" anchor="b">
            <a:spAutoFit/>
          </a:bodyPr>
          <a:lstStyle>
            <a:lvl1pPr defTabSz="914400">
              <a:spcBef>
                <a:spcPts val="1200"/>
              </a:spcBef>
              <a:defRPr sz="3400">
                <a:solidFill>
                  <a:srgbClr val="FFFFFF"/>
                </a:solidFill>
                <a:latin typeface="Arial"/>
                <a:ea typeface="Arial"/>
                <a:cs typeface="Arial"/>
                <a:sym typeface="Arial"/>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transition spd="med"/>
  <p:txStyles>
    <p:titleStyle>
      <a:lvl1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1pPr>
      <a:lvl2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2pPr>
      <a:lvl3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3pPr>
      <a:lvl4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4pPr>
      <a:lvl5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5pPr>
      <a:lvl6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6pPr>
      <a:lvl7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7pPr>
      <a:lvl8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8pPr>
      <a:lvl9pPr marL="0" marR="0" indent="0" algn="l" defTabSz="825500" rtl="0" latinLnBrk="0">
        <a:lnSpc>
          <a:spcPct val="100000"/>
        </a:lnSpc>
        <a:spcBef>
          <a:spcPts val="0"/>
        </a:spcBef>
        <a:spcAft>
          <a:spcPts val="0"/>
        </a:spcAft>
        <a:buClrTx/>
        <a:buSzTx/>
        <a:buFontTx/>
        <a:buNone/>
        <a:tabLst/>
        <a:defRPr sz="8000" b="0" i="0" u="none" strike="noStrike" cap="none" spc="0" baseline="0">
          <a:solidFill>
            <a:srgbClr val="BF1238"/>
          </a:solidFill>
          <a:uFillTx/>
          <a:latin typeface="DINOT-Medium"/>
          <a:ea typeface="DINOT-Medium"/>
          <a:cs typeface="DINOT-Medium"/>
          <a:sym typeface="DINOT-Medium"/>
        </a:defRPr>
      </a:lvl9pPr>
    </p:titleStyle>
    <p:bodyStyle>
      <a:lvl1pPr marL="609598" marR="0" indent="-609598"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1pPr>
      <a:lvl2pPr marL="11684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2pPr>
      <a:lvl3pPr marL="17780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3pPr>
      <a:lvl4pPr marL="23876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4pPr>
      <a:lvl5pPr marL="29972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5pPr>
      <a:lvl6pPr marL="36068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6pPr>
      <a:lvl7pPr marL="42164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7pPr>
      <a:lvl8pPr marL="48260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8pPr>
      <a:lvl9pPr marL="5435600" marR="0" indent="-558800" algn="l" defTabSz="2438337" rtl="0" latinLnBrk="0">
        <a:lnSpc>
          <a:spcPct val="100000"/>
        </a:lnSpc>
        <a:spcBef>
          <a:spcPts val="4500"/>
        </a:spcBef>
        <a:spcAft>
          <a:spcPts val="0"/>
        </a:spcAft>
        <a:buClr>
          <a:srgbClr val="BF1238"/>
        </a:buClr>
        <a:buSzPct val="123000"/>
        <a:buFontTx/>
        <a:buChar char="•"/>
        <a:tabLst/>
        <a:defRPr sz="4400" b="0" i="0" u="none" strike="noStrike" cap="none" spc="0" baseline="0">
          <a:solidFill>
            <a:srgbClr val="000000"/>
          </a:solidFill>
          <a:uFillTx/>
          <a:latin typeface="DINOT-Regular"/>
          <a:ea typeface="DINOT-Regular"/>
          <a:cs typeface="DINOT-Regular"/>
          <a:sym typeface="DINOT-Regular"/>
        </a:defRPr>
      </a:lvl9pPr>
    </p:bodyStyle>
    <p:otherStyle>
      <a:lvl1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1pPr>
      <a:lvl2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2pPr>
      <a:lvl3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3pPr>
      <a:lvl4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4pPr>
      <a:lvl5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5pPr>
      <a:lvl6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6pPr>
      <a:lvl7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7pPr>
      <a:lvl8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8pPr>
      <a:lvl9pPr marL="0" marR="0" indent="0" algn="l" defTabSz="914400" rtl="0" latinLnBrk="0">
        <a:lnSpc>
          <a:spcPct val="100000"/>
        </a:lnSpc>
        <a:spcBef>
          <a:spcPts val="1200"/>
        </a:spcBef>
        <a:spcAft>
          <a:spcPts val="0"/>
        </a:spcAft>
        <a:buClrTx/>
        <a:buSzTx/>
        <a:buFontTx/>
        <a:buNone/>
        <a:tabLst/>
        <a:defRPr sz="34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kestra713.lafrance.io" TargetMode="External"/><Relationship Id="rId4" Type="http://schemas.openxmlformats.org/officeDocument/2006/relationships/hyperlink" Target="kestra.lafrance.io"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192.168.80.212:8050/#/experiment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192.168.80.212:8000/doc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192.168.80.127:8000/docs"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192.168.80.127:8501/" TargetMode="External"/><Relationship Id="rId4" Type="http://schemas.openxmlformats.org/officeDocument/2006/relationships/hyperlink" Target="http://192.168.80.212:8501/"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kibana.lafrance.io/app/dashboards#/view/1d3cf053-9060-4798-96e8-6204baacaaba?_g=(filters:!(),refreshInterval:(pause:!t,value:60000),time:(from:now-15m,to:now))"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2" descr="Picture 2"/>
          <p:cNvPicPr>
            <a:picLocks noChangeAspect="1"/>
          </p:cNvPicPr>
          <p:nvPr/>
        </p:nvPicPr>
        <p:blipFill>
          <a:blip r:embed="rId3"/>
          <a:stretch>
            <a:fillRect/>
          </a:stretch>
        </p:blipFill>
        <p:spPr>
          <a:xfrm>
            <a:off x="640442" y="326571"/>
            <a:ext cx="7262588" cy="3395496"/>
          </a:xfrm>
          <a:prstGeom prst="rect">
            <a:avLst/>
          </a:prstGeom>
          <a:ln w="12700">
            <a:miter lim="400000"/>
          </a:ln>
        </p:spPr>
      </p:pic>
      <p:sp>
        <p:nvSpPr>
          <p:cNvPr id="51" name="Titre 4"/>
          <p:cNvSpPr txBox="1"/>
          <p:nvPr/>
        </p:nvSpPr>
        <p:spPr>
          <a:xfrm>
            <a:off x="2040696" y="4777156"/>
            <a:ext cx="15399718" cy="28725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317395">
              <a:lnSpc>
                <a:spcPct val="80000"/>
              </a:lnSpc>
              <a:defRPr sz="11880" spc="-198">
                <a:solidFill>
                  <a:srgbClr val="000000"/>
                </a:solidFill>
                <a:latin typeface="Poppins"/>
                <a:ea typeface="Poppins"/>
                <a:cs typeface="Poppins"/>
                <a:sym typeface="Poppins"/>
              </a:defRPr>
            </a:lvl1pPr>
          </a:lstStyle>
          <a:p>
            <a:r>
              <a:rPr lang="fr-FR" sz="11850" dirty="0"/>
              <a:t>Soutenance projet</a:t>
            </a:r>
          </a:p>
          <a:p>
            <a:endParaRPr lang="fr-FR" sz="3000" dirty="0"/>
          </a:p>
          <a:p>
            <a:r>
              <a:rPr lang="fr-FR" sz="9600" dirty="0"/>
              <a:t>DATA713 - </a:t>
            </a:r>
            <a:r>
              <a:rPr lang="fr-FR" sz="9600" dirty="0" err="1"/>
              <a:t>MLOps</a:t>
            </a:r>
            <a:endParaRPr sz="9600" dirty="0"/>
          </a:p>
        </p:txBody>
      </p:sp>
      <p:pic>
        <p:nvPicPr>
          <p:cNvPr id="53" name="Image 20" descr="Image 20"/>
          <p:cNvPicPr>
            <a:picLocks noChangeAspect="1"/>
          </p:cNvPicPr>
          <p:nvPr/>
        </p:nvPicPr>
        <p:blipFill>
          <a:blip r:embed="rId4"/>
          <a:stretch>
            <a:fillRect/>
          </a:stretch>
        </p:blipFill>
        <p:spPr>
          <a:xfrm>
            <a:off x="18827892" y="1065763"/>
            <a:ext cx="4915665" cy="1917109"/>
          </a:xfrm>
          <a:prstGeom prst="rect">
            <a:avLst/>
          </a:prstGeom>
          <a:ln w="12700">
            <a:miter lim="400000"/>
          </a:ln>
        </p:spPr>
      </p:pic>
      <p:grpSp>
        <p:nvGrpSpPr>
          <p:cNvPr id="57" name="Groupe 32"/>
          <p:cNvGrpSpPr/>
          <p:nvPr/>
        </p:nvGrpSpPr>
        <p:grpSpPr>
          <a:xfrm>
            <a:off x="9110946" y="12615689"/>
            <a:ext cx="15174687" cy="432925"/>
            <a:chOff x="0" y="0"/>
            <a:chExt cx="15174685" cy="432924"/>
          </a:xfrm>
        </p:grpSpPr>
        <p:sp>
          <p:nvSpPr>
            <p:cNvPr id="54" name="Rectangle 33"/>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55" name="Rectangle 34"/>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56" name="Rectangle 35"/>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sp>
        <p:nvSpPr>
          <p:cNvPr id="3" name="ZoneTexte 2">
            <a:extLst>
              <a:ext uri="{FF2B5EF4-FFF2-40B4-BE49-F238E27FC236}">
                <a16:creationId xmlns:a16="http://schemas.microsoft.com/office/drawing/2014/main" id="{436350E8-61C7-D57A-666F-C895E542C641}"/>
              </a:ext>
            </a:extLst>
          </p:cNvPr>
          <p:cNvSpPr txBox="1"/>
          <p:nvPr/>
        </p:nvSpPr>
        <p:spPr>
          <a:xfrm>
            <a:off x="2040696" y="9464304"/>
            <a:ext cx="11941969" cy="25648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fr-FR" sz="4000" dirty="0">
                <a:latin typeface="Poppins"/>
                <a:cs typeface="Poppins"/>
              </a:rPr>
              <a:t>EL MOUNTASSER SARA</a:t>
            </a:r>
          </a:p>
          <a:p>
            <a:r>
              <a:rPr lang="fr-FR" sz="4000" dirty="0">
                <a:latin typeface="Poppins"/>
                <a:cs typeface="Poppins"/>
              </a:rPr>
              <a:t>ELAMINE Mohammed </a:t>
            </a:r>
          </a:p>
          <a:p>
            <a:r>
              <a:rPr lang="fr-FR" sz="4000" dirty="0">
                <a:latin typeface="Poppins"/>
                <a:cs typeface="Poppins"/>
              </a:rPr>
              <a:t>LAFRANCE Julien</a:t>
            </a:r>
          </a:p>
          <a:p>
            <a:r>
              <a:rPr lang="fr-FR" sz="4000" dirty="0">
                <a:latin typeface="Poppins"/>
                <a:cs typeface="Poppins"/>
              </a:rPr>
              <a:t>MERNISSI ARIFI Yassine </a:t>
            </a:r>
          </a:p>
        </p:txBody>
      </p:sp>
      <p:sp>
        <p:nvSpPr>
          <p:cNvPr id="4" name="ZoneTexte 3">
            <a:extLst>
              <a:ext uri="{FF2B5EF4-FFF2-40B4-BE49-F238E27FC236}">
                <a16:creationId xmlns:a16="http://schemas.microsoft.com/office/drawing/2014/main" id="{FFAC077B-C12A-9D13-FC98-CCE4E1C4DF40}"/>
              </a:ext>
            </a:extLst>
          </p:cNvPr>
          <p:cNvSpPr txBox="1"/>
          <p:nvPr/>
        </p:nvSpPr>
        <p:spPr>
          <a:xfrm>
            <a:off x="16625455" y="8998192"/>
            <a:ext cx="7660179" cy="19492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fromWordArt="0" anchor="ctr" anchorCtr="0" forceAA="0" compatLnSpc="1">
            <a:prstTxWarp prst="textNoShape">
              <a:avLst/>
            </a:prstTxWarp>
            <a:spAutoFit/>
          </a:bodyPr>
          <a:lstStyle/>
          <a:p>
            <a:r>
              <a:rPr lang="en-US" sz="4000" b="1" dirty="0" err="1">
                <a:latin typeface="Poppins"/>
              </a:rPr>
              <a:t>Encadrants</a:t>
            </a:r>
            <a:r>
              <a:rPr lang="en-US" sz="4000" b="1" dirty="0">
                <a:latin typeface="Poppins"/>
              </a:rPr>
              <a:t>:</a:t>
            </a:r>
          </a:p>
          <a:p>
            <a:r>
              <a:rPr lang="en-US" sz="4000" dirty="0">
                <a:latin typeface="Poppins"/>
              </a:rPr>
              <a:t>M. CADAPEAUD Antonin</a:t>
            </a:r>
          </a:p>
          <a:p>
            <a:r>
              <a:rPr lang="en-US" sz="4000" dirty="0">
                <a:latin typeface="Poppins"/>
                <a:cs typeface="Poppins"/>
              </a:rPr>
              <a:t>M. PRILLARD Martin</a:t>
            </a:r>
            <a:endParaRPr lang="en-US" sz="40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itre 4"/>
          <p:cNvSpPr txBox="1"/>
          <p:nvPr/>
        </p:nvSpPr>
        <p:spPr>
          <a:xfrm>
            <a:off x="3167745" y="1087347"/>
            <a:ext cx="13128171"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rmAutofit/>
          </a:bodyPr>
          <a:lstStyle>
            <a:lvl1pPr defTabSz="2270580">
              <a:lnSpc>
                <a:spcPct val="80000"/>
              </a:lnSpc>
              <a:defRPr sz="9312" spc="-194">
                <a:solidFill>
                  <a:srgbClr val="000000"/>
                </a:solidFill>
                <a:latin typeface="Poppins"/>
                <a:ea typeface="Poppins"/>
                <a:cs typeface="Poppins"/>
                <a:sym typeface="Poppins"/>
              </a:defRPr>
            </a:lvl1pPr>
          </a:lstStyle>
          <a:p>
            <a:r>
              <a:rPr lang="fr-FR" sz="9300" dirty="0"/>
              <a:t>Nos données</a:t>
            </a:r>
          </a:p>
        </p:txBody>
      </p:sp>
      <p:pic>
        <p:nvPicPr>
          <p:cNvPr id="4" name="Image 3" descr="Une image contenant conception&#10;&#10;Le contenu généré par l’IA peut être incorrect.">
            <a:extLst>
              <a:ext uri="{FF2B5EF4-FFF2-40B4-BE49-F238E27FC236}">
                <a16:creationId xmlns:a16="http://schemas.microsoft.com/office/drawing/2014/main" id="{8A1A5460-7A9D-FA9D-DACD-A416E6F692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46073" y="3593114"/>
            <a:ext cx="4962237" cy="7549689"/>
          </a:xfrm>
          <a:prstGeom prst="rect">
            <a:avLst/>
          </a:prstGeom>
        </p:spPr>
      </p:pic>
      <p:sp>
        <p:nvSpPr>
          <p:cNvPr id="6" name="ZoneTexte 5">
            <a:extLst>
              <a:ext uri="{FF2B5EF4-FFF2-40B4-BE49-F238E27FC236}">
                <a16:creationId xmlns:a16="http://schemas.microsoft.com/office/drawing/2014/main" id="{23F3E74C-6556-2F56-A5FC-CA28FED68A0E}"/>
              </a:ext>
            </a:extLst>
          </p:cNvPr>
          <p:cNvSpPr txBox="1"/>
          <p:nvPr/>
        </p:nvSpPr>
        <p:spPr>
          <a:xfrm>
            <a:off x="7908310" y="2713812"/>
            <a:ext cx="16614239" cy="1081065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000" dirty="0">
                <a:latin typeface="Poppins"/>
                <a:cs typeface="Poppins"/>
              </a:rPr>
              <a:t>On récupère la consommation électrique de la maison de Julien de manière </a:t>
            </a:r>
            <a:r>
              <a:rPr lang="fr-FR" sz="4000" b="1" dirty="0" err="1">
                <a:latin typeface="Poppins"/>
                <a:cs typeface="Poppins"/>
              </a:rPr>
              <a:t>event</a:t>
            </a:r>
            <a:r>
              <a:rPr lang="fr-FR" sz="4000" b="1" dirty="0">
                <a:latin typeface="Poppins"/>
                <a:cs typeface="Poppins"/>
              </a:rPr>
              <a:t>—</a:t>
            </a:r>
            <a:r>
              <a:rPr lang="fr-FR" sz="4000" b="1" dirty="0" err="1">
                <a:latin typeface="Poppins"/>
                <a:cs typeface="Poppins"/>
              </a:rPr>
              <a:t>driven</a:t>
            </a:r>
            <a:r>
              <a:rPr lang="fr-FR" sz="4000" b="1" dirty="0">
                <a:latin typeface="Poppins"/>
                <a:cs typeface="Poppins"/>
              </a:rPr>
              <a:t> (broker MQTT)</a:t>
            </a:r>
            <a:r>
              <a:rPr lang="fr-FR" sz="4000" dirty="0">
                <a:latin typeface="Poppins"/>
                <a:cs typeface="Poppins"/>
              </a:rPr>
              <a:t>.</a:t>
            </a:r>
          </a:p>
          <a:p>
            <a:endParaRPr lang="fr-FR" sz="4000" dirty="0">
              <a:latin typeface="Poppins"/>
              <a:cs typeface="Poppins"/>
            </a:endParaRPr>
          </a:p>
          <a:p>
            <a:r>
              <a:rPr lang="fr-FR" sz="4000" b="1" dirty="0">
                <a:latin typeface="Poppins"/>
                <a:cs typeface="Poppins"/>
              </a:rPr>
              <a:t>Linky -&gt; Module radio -&gt; Home Assistant -&gt; </a:t>
            </a:r>
            <a:r>
              <a:rPr lang="fr-FR" sz="4000" b="1" dirty="0" err="1">
                <a:latin typeface="Poppins"/>
                <a:cs typeface="Poppins"/>
              </a:rPr>
              <a:t>Kestra</a:t>
            </a:r>
            <a:r>
              <a:rPr lang="fr-FR" sz="4000" b="1" dirty="0">
                <a:latin typeface="Poppins"/>
                <a:cs typeface="Poppins"/>
              </a:rPr>
              <a:t> -&gt; PG</a:t>
            </a:r>
          </a:p>
          <a:p>
            <a:endParaRPr lang="fr-FR" sz="4000" b="1" dirty="0">
              <a:latin typeface="Poppins"/>
              <a:cs typeface="Poppins"/>
            </a:endParaRPr>
          </a:p>
          <a:p>
            <a:r>
              <a:rPr lang="fr-FR" sz="4000" dirty="0">
                <a:latin typeface="Poppins"/>
                <a:cs typeface="Poppins"/>
              </a:rPr>
              <a:t>Les données sont stockées dans notre Data Warehouse (PG orienté </a:t>
            </a:r>
            <a:r>
              <a:rPr lang="fr-FR" sz="4000" dirty="0" err="1">
                <a:latin typeface="Poppins"/>
                <a:cs typeface="Poppins"/>
              </a:rPr>
              <a:t>timeseries</a:t>
            </a:r>
            <a:r>
              <a:rPr lang="fr-FR" sz="4000" dirty="0">
                <a:latin typeface="Poppins"/>
                <a:cs typeface="Poppins"/>
              </a:rPr>
              <a:t>) selon une architecture </a:t>
            </a:r>
            <a:r>
              <a:rPr lang="fr-FR" sz="4000" dirty="0" err="1">
                <a:latin typeface="Poppins"/>
                <a:cs typeface="Poppins"/>
              </a:rPr>
              <a:t>Medallion</a:t>
            </a:r>
            <a:r>
              <a:rPr lang="fr-FR" sz="4000" dirty="0">
                <a:latin typeface="Poppins"/>
                <a:cs typeface="Poppins"/>
              </a:rPr>
              <a:t> : </a:t>
            </a:r>
          </a:p>
          <a:p>
            <a:endParaRPr lang="fr-FR" sz="2000" dirty="0">
              <a:latin typeface="Poppins"/>
              <a:cs typeface="Poppins"/>
            </a:endParaRPr>
          </a:p>
          <a:p>
            <a:pPr marL="571500" indent="-571500">
              <a:lnSpc>
                <a:spcPct val="150000"/>
              </a:lnSpc>
              <a:buFontTx/>
              <a:buChar char="-"/>
            </a:pPr>
            <a:r>
              <a:rPr lang="fr-FR" sz="3600" dirty="0">
                <a:latin typeface="Poppins"/>
                <a:cs typeface="Poppins"/>
              </a:rPr>
              <a:t>Bronze: </a:t>
            </a:r>
            <a:r>
              <a:rPr lang="fr-FR" sz="3200" dirty="0">
                <a:latin typeface="Poppins"/>
                <a:cs typeface="Poppins"/>
              </a:rPr>
              <a:t>Données brutes </a:t>
            </a:r>
            <a:r>
              <a:rPr lang="fr-FR" sz="2800" dirty="0">
                <a:latin typeface="Poppins"/>
                <a:cs typeface="Poppins"/>
              </a:rPr>
              <a:t>(time, </a:t>
            </a:r>
            <a:r>
              <a:rPr lang="fr-FR" sz="2800" dirty="0" err="1">
                <a:latin typeface="Poppins"/>
                <a:cs typeface="Poppins"/>
              </a:rPr>
              <a:t>power_h</a:t>
            </a:r>
            <a:r>
              <a:rPr lang="fr-FR" sz="2800" dirty="0">
                <a:latin typeface="Poppins"/>
                <a:cs typeface="Poppins"/>
              </a:rPr>
              <a:t>, </a:t>
            </a:r>
            <a:r>
              <a:rPr lang="fr-FR" sz="2800" dirty="0" err="1">
                <a:latin typeface="Poppins"/>
                <a:cs typeface="Poppins"/>
              </a:rPr>
              <a:t>energy_wh</a:t>
            </a:r>
            <a:r>
              <a:rPr lang="fr-FR" sz="2800" dirty="0">
                <a:latin typeface="Poppins"/>
                <a:cs typeface="Poppins"/>
              </a:rPr>
              <a:t>, </a:t>
            </a:r>
            <a:r>
              <a:rPr lang="fr-FR" sz="2800" dirty="0" err="1">
                <a:latin typeface="Poppins"/>
                <a:cs typeface="Poppins"/>
              </a:rPr>
              <a:t>meter_id</a:t>
            </a:r>
            <a:r>
              <a:rPr lang="fr-FR" sz="2800" dirty="0">
                <a:latin typeface="Poppins"/>
                <a:cs typeface="Poppins"/>
              </a:rPr>
              <a:t>)</a:t>
            </a:r>
            <a:br>
              <a:rPr lang="fr-FR" sz="2800" dirty="0">
                <a:latin typeface="Poppins"/>
                <a:cs typeface="Poppins"/>
              </a:rPr>
            </a:br>
            <a:r>
              <a:rPr lang="fr-FR" sz="2800" dirty="0">
                <a:latin typeface="Poppins"/>
                <a:cs typeface="Poppins"/>
              </a:rPr>
              <a:t>Une entrée toutes les 10 secondes de la consommation (11/03/2025 8:00 -&gt; 15kWh)</a:t>
            </a:r>
          </a:p>
          <a:p>
            <a:pPr marL="571500" indent="-571500">
              <a:lnSpc>
                <a:spcPct val="150000"/>
              </a:lnSpc>
              <a:buFontTx/>
              <a:buChar char="-"/>
            </a:pPr>
            <a:r>
              <a:rPr lang="fr-FR" sz="3600" dirty="0">
                <a:latin typeface="Poppins"/>
                <a:cs typeface="Poppins"/>
              </a:rPr>
              <a:t>Silver: </a:t>
            </a:r>
            <a:r>
              <a:rPr lang="fr-FR" sz="3200" dirty="0">
                <a:latin typeface="Poppins"/>
                <a:cs typeface="Poppins"/>
              </a:rPr>
              <a:t>Données nettoyées </a:t>
            </a:r>
            <a:r>
              <a:rPr lang="fr-FR" sz="2800" dirty="0">
                <a:latin typeface="Poppins"/>
                <a:cs typeface="Poppins"/>
              </a:rPr>
              <a:t>(time, </a:t>
            </a:r>
            <a:r>
              <a:rPr lang="fr-FR" sz="2800" dirty="0" err="1">
                <a:latin typeface="Poppins"/>
                <a:cs typeface="Poppins"/>
              </a:rPr>
              <a:t>power_w</a:t>
            </a:r>
            <a:r>
              <a:rPr lang="fr-FR" sz="2800" dirty="0">
                <a:latin typeface="Poppins"/>
                <a:cs typeface="Poppins"/>
              </a:rPr>
              <a:t>, </a:t>
            </a:r>
            <a:r>
              <a:rPr lang="fr-FR" sz="2800" dirty="0" err="1">
                <a:latin typeface="Poppins"/>
                <a:cs typeface="Poppins"/>
              </a:rPr>
              <a:t>energy_wh</a:t>
            </a:r>
            <a:r>
              <a:rPr lang="fr-FR" sz="2800" dirty="0">
                <a:latin typeface="Poppins"/>
                <a:cs typeface="Poppins"/>
              </a:rPr>
              <a:t>, </a:t>
            </a:r>
            <a:r>
              <a:rPr lang="fr-FR" sz="2800" dirty="0" err="1">
                <a:latin typeface="Poppins"/>
                <a:cs typeface="Poppins"/>
              </a:rPr>
              <a:t>meter_id</a:t>
            </a:r>
            <a:r>
              <a:rPr lang="fr-FR" sz="2800" dirty="0">
                <a:latin typeface="Poppins"/>
                <a:cs typeface="Poppins"/>
              </a:rPr>
              <a:t>) -&gt; /10s</a:t>
            </a:r>
          </a:p>
          <a:p>
            <a:pPr>
              <a:lnSpc>
                <a:spcPct val="150000"/>
              </a:lnSpc>
            </a:pPr>
            <a:r>
              <a:rPr lang="fr-FR" sz="2800" dirty="0">
                <a:latin typeface="Poppins"/>
                <a:cs typeface="Poppins"/>
              </a:rPr>
              <a:t>       Une entrée toutes les 10 secondes de la consommation (11/03/2025 9:00 -&gt; 17kWh)</a:t>
            </a:r>
          </a:p>
          <a:p>
            <a:pPr marL="571500" indent="-571500">
              <a:lnSpc>
                <a:spcPct val="150000"/>
              </a:lnSpc>
              <a:buFontTx/>
              <a:buChar char="-"/>
            </a:pPr>
            <a:r>
              <a:rPr lang="fr-FR" sz="3600" dirty="0">
                <a:latin typeface="Poppins"/>
                <a:cs typeface="Poppins"/>
              </a:rPr>
              <a:t>Gold: </a:t>
            </a:r>
            <a:r>
              <a:rPr lang="fr-FR" sz="3200" dirty="0">
                <a:latin typeface="Poppins"/>
                <a:cs typeface="Poppins"/>
              </a:rPr>
              <a:t>Données analytiques </a:t>
            </a:r>
            <a:r>
              <a:rPr lang="fr-FR" sz="2800" dirty="0">
                <a:latin typeface="Poppins"/>
                <a:cs typeface="Poppins"/>
              </a:rPr>
              <a:t>(time, </a:t>
            </a:r>
            <a:r>
              <a:rPr lang="fr-FR" sz="2800" dirty="0" err="1">
                <a:latin typeface="Poppins"/>
                <a:cs typeface="Poppins"/>
              </a:rPr>
              <a:t>consumption_kwh</a:t>
            </a:r>
            <a:r>
              <a:rPr lang="fr-FR" sz="2800" dirty="0">
                <a:latin typeface="Poppins"/>
                <a:cs typeface="Poppins"/>
              </a:rPr>
              <a:t>, </a:t>
            </a:r>
            <a:r>
              <a:rPr lang="fr-FR" sz="2800" dirty="0" err="1">
                <a:latin typeface="Poppins"/>
                <a:cs typeface="Poppins"/>
              </a:rPr>
              <a:t>hour</a:t>
            </a:r>
            <a:r>
              <a:rPr lang="fr-FR" sz="2800" dirty="0">
                <a:latin typeface="Poppins"/>
                <a:cs typeface="Poppins"/>
              </a:rPr>
              <a:t>, </a:t>
            </a:r>
            <a:r>
              <a:rPr lang="fr-FR" sz="2800" dirty="0" err="1">
                <a:latin typeface="Poppins"/>
                <a:cs typeface="Poppins"/>
              </a:rPr>
              <a:t>day</a:t>
            </a:r>
            <a:r>
              <a:rPr lang="fr-FR" sz="2800" dirty="0">
                <a:latin typeface="Poppins"/>
                <a:cs typeface="Poppins"/>
              </a:rPr>
              <a:t>, </a:t>
            </a:r>
            <a:r>
              <a:rPr lang="fr-FR" sz="2800" dirty="0" err="1">
                <a:latin typeface="Poppins"/>
                <a:cs typeface="Poppins"/>
              </a:rPr>
              <a:t>week</a:t>
            </a:r>
            <a:r>
              <a:rPr lang="fr-FR" sz="2800" dirty="0">
                <a:latin typeface="Poppins"/>
                <a:cs typeface="Poppins"/>
              </a:rPr>
              <a:t>)</a:t>
            </a:r>
            <a:br>
              <a:rPr lang="fr-FR" sz="2800" dirty="0">
                <a:latin typeface="Poppins"/>
                <a:cs typeface="Poppins"/>
              </a:rPr>
            </a:br>
            <a:r>
              <a:rPr lang="fr-FR" sz="2800" dirty="0">
                <a:latin typeface="Poppins"/>
                <a:cs typeface="Poppins"/>
              </a:rPr>
              <a:t>      Une entrée toutes heures de la consommation (11/03/2025 9:00, </a:t>
            </a:r>
            <a:r>
              <a:rPr lang="fr-FR" sz="2800" dirty="0" err="1">
                <a:latin typeface="Poppins"/>
                <a:cs typeface="Poppins"/>
              </a:rPr>
              <a:t>consumption</a:t>
            </a:r>
            <a:r>
              <a:rPr lang="fr-FR" sz="2800" dirty="0">
                <a:latin typeface="Poppins"/>
                <a:cs typeface="Poppins"/>
              </a:rPr>
              <a:t>: 2kWh)</a:t>
            </a:r>
          </a:p>
          <a:p>
            <a:pPr marL="571500" indent="-571500">
              <a:lnSpc>
                <a:spcPct val="150000"/>
              </a:lnSpc>
              <a:buFontTx/>
              <a:buChar char="-"/>
            </a:pPr>
            <a:endParaRPr lang="fr-FR" sz="1000" b="1" dirty="0">
              <a:latin typeface="Poppins"/>
              <a:cs typeface="Poppins"/>
            </a:endParaRPr>
          </a:p>
          <a:p>
            <a:pPr>
              <a:lnSpc>
                <a:spcPct val="150000"/>
              </a:lnSpc>
            </a:pPr>
            <a:r>
              <a:rPr lang="fr-FR" sz="3300" b="1" dirty="0">
                <a:latin typeface="Poppins"/>
                <a:cs typeface="Poppins"/>
              </a:rPr>
              <a:t>Nos flux sont sur </a:t>
            </a:r>
            <a:r>
              <a:rPr lang="fr-FR" sz="3300" b="1" dirty="0" err="1">
                <a:latin typeface="Poppins"/>
                <a:cs typeface="Poppins"/>
              </a:rPr>
              <a:t>Kestra</a:t>
            </a:r>
            <a:r>
              <a:rPr lang="fr-FR" sz="3300" b="1" dirty="0">
                <a:latin typeface="Poppins"/>
                <a:cs typeface="Poppins"/>
              </a:rPr>
              <a:t> (Dev: </a:t>
            </a:r>
            <a:r>
              <a:rPr lang="fr-FR" sz="3300" b="1" dirty="0" err="1">
                <a:latin typeface="Poppins"/>
                <a:cs typeface="Poppins"/>
                <a:hlinkClick r:id="rId4"/>
              </a:rPr>
              <a:t>kestra.lafrance.io</a:t>
            </a:r>
            <a:r>
              <a:rPr lang="fr-FR" sz="3300" b="1" dirty="0">
                <a:latin typeface="Poppins"/>
                <a:cs typeface="Poppins"/>
              </a:rPr>
              <a:t>, PRD: </a:t>
            </a:r>
            <a:r>
              <a:rPr lang="fr-FR" sz="3300" b="1" dirty="0">
                <a:latin typeface="Poppins"/>
                <a:cs typeface="Poppins"/>
                <a:hlinkClick r:id="rId5"/>
              </a:rPr>
              <a:t>kestra713.lafrance.io</a:t>
            </a:r>
            <a:r>
              <a:rPr lang="fr-FR" sz="3300" b="1" dirty="0">
                <a:latin typeface="Poppins"/>
                <a:cs typeface="Poppins"/>
              </a:rPr>
              <a:t>):</a:t>
            </a:r>
          </a:p>
          <a:p>
            <a:pPr>
              <a:lnSpc>
                <a:spcPct val="150000"/>
              </a:lnSpc>
            </a:pPr>
            <a:r>
              <a:rPr lang="fr-FR" sz="3200" dirty="0" err="1">
                <a:latin typeface="Poppins"/>
                <a:cs typeface="Poppins"/>
              </a:rPr>
              <a:t>mqtt_linky_ingest</a:t>
            </a:r>
            <a:r>
              <a:rPr lang="fr-FR" sz="3200" dirty="0">
                <a:latin typeface="Poppins"/>
                <a:cs typeface="Poppins"/>
              </a:rPr>
              <a:t> -&gt; </a:t>
            </a:r>
            <a:r>
              <a:rPr lang="fr-FR" sz="3200" dirty="0" err="1">
                <a:latin typeface="Poppins"/>
                <a:cs typeface="Poppins"/>
              </a:rPr>
              <a:t>mqtt_linky_silver</a:t>
            </a:r>
            <a:r>
              <a:rPr lang="fr-FR" sz="3200" dirty="0">
                <a:latin typeface="Poppins"/>
                <a:cs typeface="Poppins"/>
              </a:rPr>
              <a:t> -&gt; </a:t>
            </a:r>
            <a:r>
              <a:rPr lang="fr-FR" sz="3200" dirty="0" err="1">
                <a:latin typeface="Poppins"/>
                <a:cs typeface="Poppins"/>
              </a:rPr>
              <a:t>mqtt_linky_gold</a:t>
            </a:r>
            <a:endParaRPr lang="fr-FR" sz="3200" dirty="0">
              <a:latin typeface="Poppins"/>
              <a:cs typeface="Poppins"/>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2B8BD-FB8D-C311-35CB-E10ACC3326BE}"/>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CF93A675-8365-55FA-1E71-10549125FF68}"/>
              </a:ext>
            </a:extLst>
          </p:cNvPr>
          <p:cNvSpPr txBox="1"/>
          <p:nvPr/>
        </p:nvSpPr>
        <p:spPr>
          <a:xfrm>
            <a:off x="3167745" y="1087347"/>
            <a:ext cx="13128171"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rmAutofit/>
          </a:bodyPr>
          <a:lstStyle>
            <a:lvl1pPr defTabSz="2270580">
              <a:lnSpc>
                <a:spcPct val="80000"/>
              </a:lnSpc>
              <a:defRPr sz="9312" spc="-194">
                <a:solidFill>
                  <a:srgbClr val="000000"/>
                </a:solidFill>
                <a:latin typeface="Poppins"/>
                <a:ea typeface="Poppins"/>
                <a:cs typeface="Poppins"/>
                <a:sym typeface="Poppins"/>
              </a:defRPr>
            </a:lvl1pPr>
          </a:lstStyle>
          <a:p>
            <a:r>
              <a:rPr lang="fr-FR" sz="9300" dirty="0"/>
              <a:t>Notre modèle ML</a:t>
            </a:r>
          </a:p>
        </p:txBody>
      </p:sp>
      <p:grpSp>
        <p:nvGrpSpPr>
          <p:cNvPr id="63" name="Groupe 43">
            <a:extLst>
              <a:ext uri="{FF2B5EF4-FFF2-40B4-BE49-F238E27FC236}">
                <a16:creationId xmlns:a16="http://schemas.microsoft.com/office/drawing/2014/main" id="{1AB1F15A-2110-FBBA-D057-00A15C929AFB}"/>
              </a:ext>
            </a:extLst>
          </p:cNvPr>
          <p:cNvGrpSpPr/>
          <p:nvPr/>
        </p:nvGrpSpPr>
        <p:grpSpPr>
          <a:xfrm>
            <a:off x="9208827" y="13081370"/>
            <a:ext cx="15174687" cy="432925"/>
            <a:chOff x="0" y="0"/>
            <a:chExt cx="15174685" cy="432924"/>
          </a:xfrm>
        </p:grpSpPr>
        <p:sp>
          <p:nvSpPr>
            <p:cNvPr id="60" name="Rectangle 44">
              <a:extLst>
                <a:ext uri="{FF2B5EF4-FFF2-40B4-BE49-F238E27FC236}">
                  <a16:creationId xmlns:a16="http://schemas.microsoft.com/office/drawing/2014/main" id="{CBFDB16F-3AF4-4DC8-896B-4DB46ABDC663}"/>
                </a:ext>
              </a:extLst>
            </p:cNvPr>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1" name="Rectangle 45">
              <a:extLst>
                <a:ext uri="{FF2B5EF4-FFF2-40B4-BE49-F238E27FC236}">
                  <a16:creationId xmlns:a16="http://schemas.microsoft.com/office/drawing/2014/main" id="{78A01357-2158-1E2F-B55D-19521FA1EB0B}"/>
                </a:ext>
              </a:extLst>
            </p:cNvPr>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2" name="Rectangle 46">
              <a:extLst>
                <a:ext uri="{FF2B5EF4-FFF2-40B4-BE49-F238E27FC236}">
                  <a16:creationId xmlns:a16="http://schemas.microsoft.com/office/drawing/2014/main" id="{C31CBA4B-2AE5-7BD7-838D-358915B54538}"/>
                </a:ext>
              </a:extLst>
            </p:cNvPr>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pic>
        <p:nvPicPr>
          <p:cNvPr id="3" name="Image 2" descr="Une image contenant texte, Police, écriture manuscrite, capture d’écran&#10;&#10;Le contenu généré par l’IA peut être incorrect.">
            <a:extLst>
              <a:ext uri="{FF2B5EF4-FFF2-40B4-BE49-F238E27FC236}">
                <a16:creationId xmlns:a16="http://schemas.microsoft.com/office/drawing/2014/main" id="{4BD87C77-41B7-43D8-4F72-91B1E1D4C65B}"/>
              </a:ext>
            </a:extLst>
          </p:cNvPr>
          <p:cNvPicPr>
            <a:picLocks noChangeAspect="1"/>
          </p:cNvPicPr>
          <p:nvPr/>
        </p:nvPicPr>
        <p:blipFill>
          <a:blip r:embed="rId3">
            <a:extLst>
              <a:ext uri="{28A0092B-C50C-407E-A947-70E740481C1C}">
                <a14:useLocalDpi xmlns:a14="http://schemas.microsoft.com/office/drawing/2010/main" val="0"/>
              </a:ext>
            </a:extLst>
          </a:blip>
          <a:srcRect l="5243" t="9566" r="3849" b="19023"/>
          <a:stretch>
            <a:fillRect/>
          </a:stretch>
        </p:blipFill>
        <p:spPr>
          <a:xfrm>
            <a:off x="8881771" y="4886207"/>
            <a:ext cx="7914400" cy="2886428"/>
          </a:xfrm>
          <a:prstGeom prst="rect">
            <a:avLst/>
          </a:prstGeom>
        </p:spPr>
      </p:pic>
      <p:sp>
        <p:nvSpPr>
          <p:cNvPr id="6" name="ZoneTexte 5">
            <a:extLst>
              <a:ext uri="{FF2B5EF4-FFF2-40B4-BE49-F238E27FC236}">
                <a16:creationId xmlns:a16="http://schemas.microsoft.com/office/drawing/2014/main" id="{3EA618F2-C66B-5D0E-3232-62F31F9939E5}"/>
              </a:ext>
            </a:extLst>
          </p:cNvPr>
          <p:cNvSpPr txBox="1"/>
          <p:nvPr/>
        </p:nvSpPr>
        <p:spPr>
          <a:xfrm>
            <a:off x="3106385" y="2980544"/>
            <a:ext cx="20612597" cy="14465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400" dirty="0">
                <a:latin typeface="Poppins"/>
                <a:cs typeface="Poppins"/>
              </a:rPr>
              <a:t>Notre modèle se base sur la couche Gold et est exécuté tous les 6h.  </a:t>
            </a:r>
          </a:p>
          <a:p>
            <a:r>
              <a:rPr lang="fr-FR" sz="4400" dirty="0"/>
              <a:t>C’est un modèle SARIMA(2,0,0)(2,1,0,24).</a:t>
            </a:r>
          </a:p>
        </p:txBody>
      </p:sp>
      <p:sp>
        <p:nvSpPr>
          <p:cNvPr id="8" name="ZoneTexte 7">
            <a:extLst>
              <a:ext uri="{FF2B5EF4-FFF2-40B4-BE49-F238E27FC236}">
                <a16:creationId xmlns:a16="http://schemas.microsoft.com/office/drawing/2014/main" id="{7520CD99-BD59-BEC0-B002-9A1DF1006977}"/>
              </a:ext>
            </a:extLst>
          </p:cNvPr>
          <p:cNvSpPr txBox="1"/>
          <p:nvPr/>
        </p:nvSpPr>
        <p:spPr>
          <a:xfrm>
            <a:off x="3167745" y="8565631"/>
            <a:ext cx="21216255" cy="32624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400" dirty="0">
                <a:latin typeface="Poppins"/>
                <a:cs typeface="Poppins"/>
              </a:rPr>
              <a:t>2 flows (DAG sur </a:t>
            </a:r>
            <a:r>
              <a:rPr lang="fr-FR" sz="4400" dirty="0" err="1">
                <a:latin typeface="Poppins"/>
                <a:cs typeface="Poppins"/>
              </a:rPr>
              <a:t>Kestra</a:t>
            </a:r>
            <a:r>
              <a:rPr lang="fr-FR" sz="4400" dirty="0">
                <a:latin typeface="Poppins"/>
                <a:cs typeface="Poppins"/>
              </a:rPr>
              <a:t>):</a:t>
            </a:r>
            <a:endParaRPr lang="fr-FR" sz="3000" b="1" dirty="0">
              <a:latin typeface="Poppins"/>
              <a:cs typeface="Poppins"/>
            </a:endParaRPr>
          </a:p>
          <a:p>
            <a:endParaRPr lang="fr-FR" sz="3000" b="1" dirty="0">
              <a:latin typeface="Poppins"/>
              <a:cs typeface="Poppins"/>
            </a:endParaRPr>
          </a:p>
          <a:p>
            <a:pPr marL="457200" indent="-457200">
              <a:buFont typeface="Arial" panose="020B0604020202020204" pitchFamily="34" charset="0"/>
              <a:buChar char="•"/>
            </a:pPr>
            <a:r>
              <a:rPr lang="fr-FR" sz="4400" b="1" dirty="0" err="1"/>
              <a:t>mlops_linky_forecast</a:t>
            </a:r>
            <a:r>
              <a:rPr lang="fr-FR" sz="4400" b="1" dirty="0"/>
              <a:t>: Prévision des </a:t>
            </a:r>
            <a:r>
              <a:rPr lang="fr-FR" sz="4400" b="1" dirty="0" err="1"/>
              <a:t>next</a:t>
            </a:r>
            <a:r>
              <a:rPr lang="fr-FR" sz="4400" b="1" dirty="0"/>
              <a:t> 3 </a:t>
            </a:r>
            <a:r>
              <a:rPr lang="fr-FR" sz="4400" b="1" dirty="0" err="1"/>
              <a:t>days</a:t>
            </a:r>
            <a:r>
              <a:rPr lang="fr-FR" sz="4400" b="1" dirty="0"/>
              <a:t> tous les 6 heures</a:t>
            </a:r>
          </a:p>
          <a:p>
            <a:pPr marL="457200" indent="-457200">
              <a:buFont typeface="Arial" panose="020B0604020202020204" pitchFamily="34" charset="0"/>
              <a:buChar char="•"/>
            </a:pPr>
            <a:r>
              <a:rPr lang="fr-FR" sz="4400" b="1" dirty="0" err="1"/>
              <a:t>mlops_linky_train</a:t>
            </a:r>
            <a:r>
              <a:rPr lang="fr-FR" sz="4400" b="1" dirty="0"/>
              <a:t>: Entrainement de SARIMA toutes les semaines</a:t>
            </a:r>
          </a:p>
          <a:p>
            <a:endParaRPr lang="fr-FR" sz="4400" b="1" dirty="0"/>
          </a:p>
        </p:txBody>
      </p:sp>
    </p:spTree>
    <p:extLst>
      <p:ext uri="{BB962C8B-B14F-4D97-AF65-F5344CB8AC3E}">
        <p14:creationId xmlns:p14="http://schemas.microsoft.com/office/powerpoint/2010/main" val="3381283810"/>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25096-AA11-7850-7E64-67F2512777FC}"/>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521AC9BF-7C02-2E0C-BE0E-CF0D011D31A3}"/>
              </a:ext>
            </a:extLst>
          </p:cNvPr>
          <p:cNvSpPr txBox="1"/>
          <p:nvPr/>
        </p:nvSpPr>
        <p:spPr>
          <a:xfrm>
            <a:off x="3167745" y="1087347"/>
            <a:ext cx="21410219"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270580">
              <a:lnSpc>
                <a:spcPct val="80000"/>
              </a:lnSpc>
              <a:defRPr sz="9312" spc="-194">
                <a:solidFill>
                  <a:srgbClr val="000000"/>
                </a:solidFill>
                <a:latin typeface="Poppins"/>
                <a:ea typeface="Poppins"/>
                <a:cs typeface="Poppins"/>
                <a:sym typeface="Poppins"/>
              </a:defRPr>
            </a:lvl1pPr>
          </a:lstStyle>
          <a:p>
            <a:r>
              <a:rPr lang="fr-FR" sz="9300" dirty="0" err="1"/>
              <a:t>MLFlow</a:t>
            </a:r>
            <a:endParaRPr lang="fr-FR" sz="9300" dirty="0"/>
          </a:p>
        </p:txBody>
      </p:sp>
      <p:sp>
        <p:nvSpPr>
          <p:cNvPr id="3" name="ZoneTexte 2">
            <a:extLst>
              <a:ext uri="{FF2B5EF4-FFF2-40B4-BE49-F238E27FC236}">
                <a16:creationId xmlns:a16="http://schemas.microsoft.com/office/drawing/2014/main" id="{08FAAB35-4158-A2C5-FDE0-84D64882385F}"/>
              </a:ext>
            </a:extLst>
          </p:cNvPr>
          <p:cNvSpPr txBox="1"/>
          <p:nvPr/>
        </p:nvSpPr>
        <p:spPr>
          <a:xfrm>
            <a:off x="2963624" y="2900387"/>
            <a:ext cx="11999285" cy="840230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000" b="1" dirty="0">
                <a:latin typeface="Poppins"/>
                <a:cs typeface="Poppins"/>
              </a:rPr>
              <a:t>Lien: </a:t>
            </a:r>
            <a:r>
              <a:rPr lang="fr-FR" sz="4000" dirty="0">
                <a:latin typeface="Poppins"/>
                <a:cs typeface="Poppins"/>
                <a:hlinkClick r:id="rId3"/>
              </a:rPr>
              <a:t>MLFlow</a:t>
            </a:r>
            <a:endParaRPr lang="fr-FR" sz="4000" dirty="0">
              <a:latin typeface="Poppins"/>
              <a:cs typeface="Poppins"/>
            </a:endParaRPr>
          </a:p>
          <a:p>
            <a:endParaRPr lang="fr-FR" sz="2400" dirty="0">
              <a:latin typeface="Poppins"/>
              <a:cs typeface="Poppins"/>
            </a:endParaRPr>
          </a:p>
          <a:p>
            <a:r>
              <a:rPr lang="fr-FR" sz="3600" b="1" dirty="0"/>
              <a:t>1. Performance des prédictions</a:t>
            </a:r>
            <a:endParaRPr lang="fr-FR" sz="3600" dirty="0"/>
          </a:p>
          <a:p>
            <a:r>
              <a:rPr lang="fr-FR" sz="3600" dirty="0"/>
              <a:t>À chaque exécution, on évalue la </a:t>
            </a:r>
            <a:r>
              <a:rPr lang="fr-FR" sz="3600" b="1" dirty="0"/>
              <a:t>dernière prévision complète sur 72h</a:t>
            </a:r>
            <a:r>
              <a:rPr lang="fr-FR" sz="3600" dirty="0"/>
              <a:t>.</a:t>
            </a:r>
          </a:p>
          <a:p>
            <a:r>
              <a:rPr lang="fr-FR" sz="3600" dirty="0"/>
              <a:t>Comparaison : </a:t>
            </a:r>
            <a:r>
              <a:rPr lang="fr-FR" sz="3600" b="1" dirty="0"/>
              <a:t>72h prédites vs 72h réelles</a:t>
            </a:r>
            <a:r>
              <a:rPr lang="fr-FR" sz="3600" dirty="0"/>
              <a:t>.</a:t>
            </a:r>
          </a:p>
          <a:p>
            <a:r>
              <a:rPr lang="fr-FR" sz="3600" dirty="0"/>
              <a:t>Métriques suivies : </a:t>
            </a:r>
            <a:r>
              <a:rPr lang="fr-FR" sz="3600" b="1" dirty="0"/>
              <a:t>MAE, MSE, RMSE, MAPE, </a:t>
            </a:r>
            <a:r>
              <a:rPr lang="fr-FR" sz="3600" b="1" dirty="0" err="1"/>
              <a:t>Coverage</a:t>
            </a:r>
            <a:r>
              <a:rPr lang="fr-FR" sz="3600" b="1" dirty="0"/>
              <a:t> 80%</a:t>
            </a:r>
            <a:r>
              <a:rPr lang="fr-FR" sz="3600" dirty="0"/>
              <a:t>.</a:t>
            </a:r>
          </a:p>
          <a:p>
            <a:endParaRPr lang="fr-FR" sz="3600" dirty="0"/>
          </a:p>
          <a:p>
            <a:r>
              <a:rPr lang="fr-FR" sz="3600" b="1" dirty="0"/>
              <a:t>2. Data Drift (entrées)</a:t>
            </a:r>
            <a:endParaRPr lang="fr-FR" sz="3600" dirty="0"/>
          </a:p>
          <a:p>
            <a:r>
              <a:rPr lang="fr-FR" sz="3600" dirty="0"/>
              <a:t>On compare la distribution des inputs (gold data de consommation) : </a:t>
            </a:r>
            <a:r>
              <a:rPr lang="fr-FR" sz="3600" b="1" dirty="0"/>
              <a:t>[t-42j ; t-21j] vs [t-21j ; </a:t>
            </a:r>
            <a:r>
              <a:rPr lang="fr-FR" sz="3600" b="1" dirty="0" err="1"/>
              <a:t>t</a:t>
            </a:r>
            <a:r>
              <a:rPr lang="fr-FR" sz="3600" b="1" dirty="0"/>
              <a:t>]</a:t>
            </a:r>
            <a:r>
              <a:rPr lang="fr-FR" sz="3600" dirty="0"/>
              <a:t>.</a:t>
            </a:r>
          </a:p>
          <a:p>
            <a:r>
              <a:rPr lang="fr-FR" sz="3600" dirty="0"/>
              <a:t>Méthode : </a:t>
            </a:r>
            <a:r>
              <a:rPr lang="fr-FR" sz="3600" b="1" dirty="0"/>
              <a:t>test de Kolmogorov-Smirnov (KS)</a:t>
            </a:r>
          </a:p>
          <a:p>
            <a:r>
              <a:rPr lang="fr-FR" sz="3600" dirty="0"/>
              <a:t>Objectif : détecter un </a:t>
            </a:r>
            <a:r>
              <a:rPr lang="fr-FR" sz="3600" b="1" dirty="0"/>
              <a:t>changement de comportement des données</a:t>
            </a:r>
            <a:r>
              <a:rPr lang="fr-FR" sz="3600" dirty="0"/>
              <a:t>.</a:t>
            </a:r>
          </a:p>
        </p:txBody>
      </p:sp>
      <p:pic>
        <p:nvPicPr>
          <p:cNvPr id="14" name="Image 13">
            <a:extLst>
              <a:ext uri="{FF2B5EF4-FFF2-40B4-BE49-F238E27FC236}">
                <a16:creationId xmlns:a16="http://schemas.microsoft.com/office/drawing/2014/main" id="{2465D25B-1952-5DE2-272B-A0E58D7F6DA8}"/>
              </a:ext>
            </a:extLst>
          </p:cNvPr>
          <p:cNvPicPr>
            <a:picLocks noChangeAspect="1"/>
          </p:cNvPicPr>
          <p:nvPr/>
        </p:nvPicPr>
        <p:blipFill>
          <a:blip r:embed="rId4"/>
          <a:stretch>
            <a:fillRect/>
          </a:stretch>
        </p:blipFill>
        <p:spPr>
          <a:xfrm>
            <a:off x="2963624" y="11754183"/>
            <a:ext cx="1039367" cy="1039367"/>
          </a:xfrm>
          <a:prstGeom prst="rect">
            <a:avLst/>
          </a:prstGeom>
        </p:spPr>
      </p:pic>
      <p:sp>
        <p:nvSpPr>
          <p:cNvPr id="16" name="ZoneTexte 15">
            <a:extLst>
              <a:ext uri="{FF2B5EF4-FFF2-40B4-BE49-F238E27FC236}">
                <a16:creationId xmlns:a16="http://schemas.microsoft.com/office/drawing/2014/main" id="{5C2AAB08-8329-E44C-959E-F69B9D040D6C}"/>
              </a:ext>
            </a:extLst>
          </p:cNvPr>
          <p:cNvSpPr txBox="1"/>
          <p:nvPr/>
        </p:nvSpPr>
        <p:spPr>
          <a:xfrm>
            <a:off x="4043081" y="11896152"/>
            <a:ext cx="12300154"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000" b="1" dirty="0" err="1">
                <a:solidFill>
                  <a:schemeClr val="accent1">
                    <a:lumMod val="60000"/>
                    <a:lumOff val="40000"/>
                  </a:schemeClr>
                </a:solidFill>
              </a:rPr>
              <a:t>Forecast</a:t>
            </a:r>
            <a:r>
              <a:rPr lang="fr-FR" sz="4000" b="1" dirty="0">
                <a:solidFill>
                  <a:schemeClr val="accent1">
                    <a:lumMod val="60000"/>
                    <a:lumOff val="40000"/>
                  </a:schemeClr>
                </a:solidFill>
              </a:rPr>
              <a:t> </a:t>
            </a:r>
            <a:r>
              <a:rPr lang="fr-FR" sz="4000" b="1" dirty="0" err="1">
                <a:solidFill>
                  <a:schemeClr val="accent1">
                    <a:lumMod val="60000"/>
                    <a:lumOff val="40000"/>
                  </a:schemeClr>
                </a:solidFill>
              </a:rPr>
              <a:t>done</a:t>
            </a:r>
            <a:r>
              <a:rPr lang="fr-FR" sz="4000" b="1" dirty="0">
                <a:solidFill>
                  <a:schemeClr val="accent1">
                    <a:lumMod val="60000"/>
                    <a:lumOff val="40000"/>
                  </a:schemeClr>
                </a:solidFill>
              </a:rPr>
              <a:t> (ou Data Drift) =&gt; Msg Discord</a:t>
            </a:r>
            <a:endParaRPr lang="fr-FR" sz="4000" dirty="0">
              <a:solidFill>
                <a:schemeClr val="accent1">
                  <a:lumMod val="60000"/>
                  <a:lumOff val="40000"/>
                </a:schemeClr>
              </a:solidFill>
            </a:endParaRPr>
          </a:p>
        </p:txBody>
      </p:sp>
      <p:pic>
        <p:nvPicPr>
          <p:cNvPr id="18" name="Image 17" descr="Une image contenant texte, Appareils électroniques, capture d’écran, logiciel&#10;&#10;Le contenu généré par l’IA peut être incorrect.">
            <a:extLst>
              <a:ext uri="{FF2B5EF4-FFF2-40B4-BE49-F238E27FC236}">
                <a16:creationId xmlns:a16="http://schemas.microsoft.com/office/drawing/2014/main" id="{13787CBC-C885-66F3-68A1-B4BC4AF3C4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40421" y="10657461"/>
            <a:ext cx="3697953" cy="3058539"/>
          </a:xfrm>
          <a:prstGeom prst="rect">
            <a:avLst/>
          </a:prstGeom>
        </p:spPr>
      </p:pic>
      <p:pic>
        <p:nvPicPr>
          <p:cNvPr id="20" name="Image 19" descr="Une image contenant texte, capture d’écran, Police, nombre&#10;&#10;Le contenu généré par l’IA peut être incorrect.">
            <a:extLst>
              <a:ext uri="{FF2B5EF4-FFF2-40B4-BE49-F238E27FC236}">
                <a16:creationId xmlns:a16="http://schemas.microsoft.com/office/drawing/2014/main" id="{62070B32-FD81-374B-8694-BAD0BB7408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046245" y="76331"/>
            <a:ext cx="8256573" cy="10606984"/>
          </a:xfrm>
          <a:prstGeom prst="rect">
            <a:avLst/>
          </a:prstGeom>
        </p:spPr>
      </p:pic>
    </p:spTree>
    <p:extLst>
      <p:ext uri="{BB962C8B-B14F-4D97-AF65-F5344CB8AC3E}">
        <p14:creationId xmlns:p14="http://schemas.microsoft.com/office/powerpoint/2010/main" val="359041881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44F3B-F541-1589-233A-95A001C98BC5}"/>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AA81BE9F-C2BC-7C48-85D7-AFFAEEC74647}"/>
              </a:ext>
            </a:extLst>
          </p:cNvPr>
          <p:cNvSpPr txBox="1"/>
          <p:nvPr/>
        </p:nvSpPr>
        <p:spPr>
          <a:xfrm>
            <a:off x="2993573" y="1087347"/>
            <a:ext cx="21410219"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270580">
              <a:lnSpc>
                <a:spcPct val="80000"/>
              </a:lnSpc>
              <a:defRPr sz="9312" spc="-194">
                <a:solidFill>
                  <a:srgbClr val="000000"/>
                </a:solidFill>
                <a:latin typeface="Poppins"/>
                <a:ea typeface="Poppins"/>
                <a:cs typeface="Poppins"/>
                <a:sym typeface="Poppins"/>
              </a:defRPr>
            </a:lvl1pPr>
          </a:lstStyle>
          <a:p>
            <a:r>
              <a:rPr lang="fr-FR" sz="9300" dirty="0"/>
              <a:t>Stocker le modèle sur un </a:t>
            </a:r>
            <a:r>
              <a:rPr lang="fr-FR" sz="9300" dirty="0" err="1"/>
              <a:t>registry</a:t>
            </a:r>
            <a:r>
              <a:rPr lang="fr-FR" sz="9300" dirty="0"/>
              <a:t> (S3)</a:t>
            </a:r>
          </a:p>
        </p:txBody>
      </p:sp>
      <p:grpSp>
        <p:nvGrpSpPr>
          <p:cNvPr id="63" name="Groupe 43">
            <a:extLst>
              <a:ext uri="{FF2B5EF4-FFF2-40B4-BE49-F238E27FC236}">
                <a16:creationId xmlns:a16="http://schemas.microsoft.com/office/drawing/2014/main" id="{EBE17BA7-639C-6B4C-C9FF-33FD360E749F}"/>
              </a:ext>
            </a:extLst>
          </p:cNvPr>
          <p:cNvGrpSpPr/>
          <p:nvPr/>
        </p:nvGrpSpPr>
        <p:grpSpPr>
          <a:xfrm>
            <a:off x="9209313" y="12705060"/>
            <a:ext cx="15174687" cy="432925"/>
            <a:chOff x="0" y="0"/>
            <a:chExt cx="15174685" cy="432924"/>
          </a:xfrm>
        </p:grpSpPr>
        <p:sp>
          <p:nvSpPr>
            <p:cNvPr id="60" name="Rectangle 44">
              <a:extLst>
                <a:ext uri="{FF2B5EF4-FFF2-40B4-BE49-F238E27FC236}">
                  <a16:creationId xmlns:a16="http://schemas.microsoft.com/office/drawing/2014/main" id="{3A268D50-C52E-C706-8BB0-0DE2EA81D89F}"/>
                </a:ext>
              </a:extLst>
            </p:cNvPr>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1" name="Rectangle 45">
              <a:extLst>
                <a:ext uri="{FF2B5EF4-FFF2-40B4-BE49-F238E27FC236}">
                  <a16:creationId xmlns:a16="http://schemas.microsoft.com/office/drawing/2014/main" id="{427DC79C-E700-B089-2BF7-0366F4D6F472}"/>
                </a:ext>
              </a:extLst>
            </p:cNvPr>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2" name="Rectangle 46">
              <a:extLst>
                <a:ext uri="{FF2B5EF4-FFF2-40B4-BE49-F238E27FC236}">
                  <a16:creationId xmlns:a16="http://schemas.microsoft.com/office/drawing/2014/main" id="{9FE0A152-D9B9-11BD-21EA-6992E1E23761}"/>
                </a:ext>
              </a:extLst>
            </p:cNvPr>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sp>
        <p:nvSpPr>
          <p:cNvPr id="3" name="ZoneTexte 2">
            <a:extLst>
              <a:ext uri="{FF2B5EF4-FFF2-40B4-BE49-F238E27FC236}">
                <a16:creationId xmlns:a16="http://schemas.microsoft.com/office/drawing/2014/main" id="{EB383FBB-48C8-A6D4-7E0D-0B7515B19436}"/>
              </a:ext>
            </a:extLst>
          </p:cNvPr>
          <p:cNvSpPr txBox="1"/>
          <p:nvPr/>
        </p:nvSpPr>
        <p:spPr>
          <a:xfrm>
            <a:off x="3013364" y="3072348"/>
            <a:ext cx="21390428" cy="62478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000" dirty="0">
                <a:latin typeface="Poppins"/>
                <a:cs typeface="Poppins"/>
              </a:rPr>
              <a:t>Après chaque training, le modèle est stocké </a:t>
            </a:r>
            <a:r>
              <a:rPr lang="fr-FR" sz="4000" b="1" dirty="0">
                <a:latin typeface="Poppins"/>
                <a:cs typeface="Poppins"/>
              </a:rPr>
              <a:t>sous format .pickle dans le S3 Garage de Julien</a:t>
            </a:r>
            <a:r>
              <a:rPr lang="fr-FR" sz="4000" dirty="0">
                <a:latin typeface="Poppins"/>
                <a:cs typeface="Poppins"/>
              </a:rPr>
              <a:t>.</a:t>
            </a:r>
          </a:p>
          <a:p>
            <a:endParaRPr lang="fr-FR" sz="4000" dirty="0">
              <a:latin typeface="Poppins"/>
              <a:cs typeface="Poppins"/>
            </a:endParaRPr>
          </a:p>
          <a:p>
            <a:r>
              <a:rPr lang="fr-FR" sz="4000" dirty="0">
                <a:latin typeface="Poppins"/>
                <a:cs typeface="Poppins"/>
              </a:rPr>
              <a:t>Format: s3://705/</a:t>
            </a:r>
            <a:r>
              <a:rPr lang="fr-FR" sz="4000" dirty="0" err="1">
                <a:latin typeface="Poppins"/>
                <a:cs typeface="Poppins"/>
              </a:rPr>
              <a:t>mlops</a:t>
            </a:r>
            <a:r>
              <a:rPr lang="fr-FR" sz="4000" dirty="0">
                <a:latin typeface="Poppins"/>
                <a:cs typeface="Poppins"/>
              </a:rPr>
              <a:t>/linky-sarima-705/&lt;YYYYMMDDHH&gt;/</a:t>
            </a:r>
            <a:r>
              <a:rPr lang="fr-FR" sz="4000" dirty="0" err="1">
                <a:latin typeface="Poppins"/>
                <a:cs typeface="Poppins"/>
              </a:rPr>
              <a:t>model.pkl</a:t>
            </a:r>
            <a:endParaRPr lang="fr-FR" sz="4000" dirty="0">
              <a:latin typeface="Poppins"/>
              <a:cs typeface="Poppins"/>
            </a:endParaRPr>
          </a:p>
          <a:p>
            <a:endParaRPr lang="fr-FR" sz="4000" dirty="0">
              <a:latin typeface="Poppins"/>
              <a:cs typeface="Poppins"/>
            </a:endParaRPr>
          </a:p>
          <a:p>
            <a:r>
              <a:rPr lang="fr-FR" sz="4000" dirty="0">
                <a:latin typeface="Poppins" pitchFamily="2" charset="77"/>
                <a:cs typeface="Poppins" pitchFamily="2" charset="77"/>
              </a:rPr>
              <a:t>Lien Garage Endpoint : http://s3fast.lafrance.io</a:t>
            </a:r>
          </a:p>
          <a:p>
            <a:r>
              <a:rPr lang="fr-FR" sz="4000" dirty="0" err="1">
                <a:latin typeface="Poppins" pitchFamily="2" charset="77"/>
                <a:cs typeface="Poppins" pitchFamily="2" charset="77"/>
              </a:rPr>
              <a:t>Bucket</a:t>
            </a:r>
            <a:r>
              <a:rPr lang="fr-FR" sz="4000" dirty="0">
                <a:latin typeface="Poppins" pitchFamily="2" charset="77"/>
                <a:cs typeface="Poppins" pitchFamily="2" charset="77"/>
              </a:rPr>
              <a:t> : 705</a:t>
            </a:r>
          </a:p>
          <a:p>
            <a:endParaRPr lang="fr-FR" sz="4000" dirty="0">
              <a:latin typeface="Poppins" pitchFamily="2" charset="77"/>
              <a:cs typeface="Poppins" pitchFamily="2" charset="77"/>
            </a:endParaRPr>
          </a:p>
          <a:p>
            <a:r>
              <a:rPr lang="fr-FR" sz="4000" b="1" dirty="0">
                <a:latin typeface="Poppins" pitchFamily="2" charset="77"/>
                <a:cs typeface="Poppins" pitchFamily="2" charset="77"/>
              </a:rPr>
              <a:t>Pour chaque utilisation, </a:t>
            </a:r>
            <a:r>
              <a:rPr lang="fr-FR" sz="4000" dirty="0">
                <a:latin typeface="Poppins" pitchFamily="2" charset="77"/>
                <a:cs typeface="Poppins" pitchFamily="2" charset="77"/>
              </a:rPr>
              <a:t>on va récupérer le modèle directement sur le S3.</a:t>
            </a:r>
            <a:endParaRPr lang="fr-FR" sz="4000" b="1" dirty="0">
              <a:latin typeface="Poppins" pitchFamily="2" charset="77"/>
              <a:cs typeface="Poppins" pitchFamily="2" charset="77"/>
            </a:endParaRPr>
          </a:p>
          <a:p>
            <a:endParaRPr lang="fr-FR" sz="4000" dirty="0">
              <a:latin typeface="Poppins" pitchFamily="2" charset="77"/>
              <a:cs typeface="Poppins" pitchFamily="2" charset="77"/>
            </a:endParaRPr>
          </a:p>
        </p:txBody>
      </p:sp>
      <p:pic>
        <p:nvPicPr>
          <p:cNvPr id="5" name="Image 4">
            <a:extLst>
              <a:ext uri="{FF2B5EF4-FFF2-40B4-BE49-F238E27FC236}">
                <a16:creationId xmlns:a16="http://schemas.microsoft.com/office/drawing/2014/main" id="{8F5CB66E-9200-3E43-A41C-D5B3165E93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3573" y="9824234"/>
            <a:ext cx="21122433" cy="1806193"/>
          </a:xfrm>
          <a:prstGeom prst="rect">
            <a:avLst/>
          </a:prstGeom>
        </p:spPr>
      </p:pic>
    </p:spTree>
    <p:extLst>
      <p:ext uri="{BB962C8B-B14F-4D97-AF65-F5344CB8AC3E}">
        <p14:creationId xmlns:p14="http://schemas.microsoft.com/office/powerpoint/2010/main" val="300308406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4B65D-FA1B-0F7D-4D7C-FD32F14E6DFD}"/>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1713FD7C-38F4-3ED2-89D2-D0D247829995}"/>
              </a:ext>
            </a:extLst>
          </p:cNvPr>
          <p:cNvSpPr txBox="1"/>
          <p:nvPr/>
        </p:nvSpPr>
        <p:spPr>
          <a:xfrm>
            <a:off x="3167745" y="1087347"/>
            <a:ext cx="21410219"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270580">
              <a:lnSpc>
                <a:spcPct val="80000"/>
              </a:lnSpc>
              <a:defRPr sz="9312" spc="-194">
                <a:solidFill>
                  <a:srgbClr val="000000"/>
                </a:solidFill>
                <a:latin typeface="Poppins"/>
                <a:ea typeface="Poppins"/>
                <a:cs typeface="Poppins"/>
                <a:sym typeface="Poppins"/>
              </a:defRPr>
            </a:lvl1pPr>
          </a:lstStyle>
          <a:p>
            <a:r>
              <a:rPr lang="fr-FR" sz="9300" dirty="0"/>
              <a:t>API - </a:t>
            </a:r>
            <a:r>
              <a:rPr lang="fr-FR" sz="9300" dirty="0" err="1"/>
              <a:t>FastAPI</a:t>
            </a:r>
            <a:endParaRPr lang="fr-FR" sz="9300" dirty="0"/>
          </a:p>
        </p:txBody>
      </p:sp>
      <p:grpSp>
        <p:nvGrpSpPr>
          <p:cNvPr id="63" name="Groupe 43">
            <a:extLst>
              <a:ext uri="{FF2B5EF4-FFF2-40B4-BE49-F238E27FC236}">
                <a16:creationId xmlns:a16="http://schemas.microsoft.com/office/drawing/2014/main" id="{3F847EAE-32BD-3486-7026-97A33989FE0F}"/>
              </a:ext>
            </a:extLst>
          </p:cNvPr>
          <p:cNvGrpSpPr/>
          <p:nvPr/>
        </p:nvGrpSpPr>
        <p:grpSpPr>
          <a:xfrm>
            <a:off x="9209313" y="12705060"/>
            <a:ext cx="15174687" cy="432925"/>
            <a:chOff x="0" y="0"/>
            <a:chExt cx="15174685" cy="432924"/>
          </a:xfrm>
        </p:grpSpPr>
        <p:sp>
          <p:nvSpPr>
            <p:cNvPr id="60" name="Rectangle 44">
              <a:extLst>
                <a:ext uri="{FF2B5EF4-FFF2-40B4-BE49-F238E27FC236}">
                  <a16:creationId xmlns:a16="http://schemas.microsoft.com/office/drawing/2014/main" id="{33652573-B49B-9B24-A12B-18D58E91A8D5}"/>
                </a:ext>
              </a:extLst>
            </p:cNvPr>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1" name="Rectangle 45">
              <a:extLst>
                <a:ext uri="{FF2B5EF4-FFF2-40B4-BE49-F238E27FC236}">
                  <a16:creationId xmlns:a16="http://schemas.microsoft.com/office/drawing/2014/main" id="{BE4832B9-3373-199E-F478-3825BDE12184}"/>
                </a:ext>
              </a:extLst>
            </p:cNvPr>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2" name="Rectangle 46">
              <a:extLst>
                <a:ext uri="{FF2B5EF4-FFF2-40B4-BE49-F238E27FC236}">
                  <a16:creationId xmlns:a16="http://schemas.microsoft.com/office/drawing/2014/main" id="{DB26B6FB-9901-1E24-ACE0-E5346CCD3E34}"/>
                </a:ext>
              </a:extLst>
            </p:cNvPr>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sp>
        <p:nvSpPr>
          <p:cNvPr id="3" name="ZoneTexte 2">
            <a:extLst>
              <a:ext uri="{FF2B5EF4-FFF2-40B4-BE49-F238E27FC236}">
                <a16:creationId xmlns:a16="http://schemas.microsoft.com/office/drawing/2014/main" id="{D8D52F69-46CC-6613-BA6C-A4F25889030C}"/>
              </a:ext>
            </a:extLst>
          </p:cNvPr>
          <p:cNvSpPr txBox="1"/>
          <p:nvPr/>
        </p:nvSpPr>
        <p:spPr>
          <a:xfrm>
            <a:off x="2979175" y="2814629"/>
            <a:ext cx="13833987" cy="938718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000" b="1" dirty="0">
                <a:latin typeface="Poppins"/>
                <a:cs typeface="Poppins"/>
              </a:rPr>
              <a:t>Lien: </a:t>
            </a:r>
            <a:r>
              <a:rPr lang="fr-FR" sz="4000" dirty="0">
                <a:latin typeface="Poppins"/>
                <a:cs typeface="Poppins"/>
                <a:hlinkClick r:id="rId3"/>
              </a:rPr>
              <a:t>Fast API DEV</a:t>
            </a:r>
            <a:r>
              <a:rPr lang="fr-FR" sz="4000" dirty="0">
                <a:latin typeface="Poppins"/>
                <a:cs typeface="Poppins"/>
              </a:rPr>
              <a:t> </a:t>
            </a:r>
            <a:r>
              <a:rPr lang="fr-FR" sz="4000" dirty="0">
                <a:latin typeface="Poppins"/>
                <a:cs typeface="Poppins"/>
                <a:hlinkClick r:id="rId4"/>
              </a:rPr>
              <a:t>Fast API PRD</a:t>
            </a:r>
            <a:endParaRPr lang="fr-FR" sz="4000" dirty="0">
              <a:latin typeface="Poppins"/>
              <a:cs typeface="Poppins"/>
            </a:endParaRPr>
          </a:p>
          <a:p>
            <a:endParaRPr lang="fr-FR" sz="4000" dirty="0">
              <a:latin typeface="Poppins"/>
              <a:cs typeface="Poppins"/>
            </a:endParaRPr>
          </a:p>
          <a:p>
            <a:r>
              <a:rPr lang="fr-FR" sz="4000" dirty="0">
                <a:latin typeface="Poppins"/>
                <a:cs typeface="Poppins"/>
              </a:rPr>
              <a:t>Objectif : </a:t>
            </a:r>
            <a:r>
              <a:rPr lang="fr-FR" sz="4000" b="1" dirty="0">
                <a:latin typeface="Poppins"/>
                <a:cs typeface="Poppins"/>
              </a:rPr>
              <a:t>permettre de récupérer les prévisions via requêtes HTTP</a:t>
            </a:r>
            <a:br>
              <a:rPr lang="fr-FR" sz="4000" b="1" dirty="0">
                <a:latin typeface="Poppins"/>
                <a:cs typeface="Poppins"/>
              </a:rPr>
            </a:br>
            <a:endParaRPr lang="fr-FR" sz="4000" b="1" dirty="0">
              <a:latin typeface="Poppins"/>
              <a:cs typeface="Poppins"/>
            </a:endParaRPr>
          </a:p>
          <a:p>
            <a:r>
              <a:rPr lang="fr-FR" sz="4000" dirty="0" err="1">
                <a:latin typeface="Poppins"/>
                <a:cs typeface="Poppins"/>
              </a:rPr>
              <a:t>Endpoints</a:t>
            </a:r>
            <a:r>
              <a:rPr lang="fr-FR" sz="4000" dirty="0">
                <a:latin typeface="Poppins"/>
                <a:cs typeface="Poppins"/>
              </a:rPr>
              <a:t> disponibles :</a:t>
            </a:r>
            <a:br>
              <a:rPr lang="fr-FR" sz="4000" b="1" dirty="0">
                <a:latin typeface="Poppins"/>
                <a:cs typeface="Poppins"/>
              </a:rPr>
            </a:br>
            <a:r>
              <a:rPr lang="fr-FR" sz="4000" b="1" dirty="0">
                <a:latin typeface="Poppins"/>
                <a:cs typeface="Poppins"/>
              </a:rPr>
              <a:t>- /</a:t>
            </a:r>
            <a:r>
              <a:rPr lang="fr-FR" sz="4000" b="1" dirty="0" err="1">
                <a:latin typeface="Poppins"/>
                <a:cs typeface="Poppins"/>
              </a:rPr>
              <a:t>health</a:t>
            </a:r>
            <a:r>
              <a:rPr lang="fr-FR" sz="4000" b="1" dirty="0">
                <a:latin typeface="Poppins"/>
                <a:cs typeface="Poppins"/>
              </a:rPr>
              <a:t>: </a:t>
            </a:r>
            <a:r>
              <a:rPr lang="fr-FR" sz="4000" dirty="0">
                <a:latin typeface="Poppins"/>
                <a:cs typeface="Poppins"/>
              </a:rPr>
              <a:t>Vérifie</a:t>
            </a:r>
            <a:r>
              <a:rPr lang="fr-FR" sz="4000" b="1" dirty="0">
                <a:latin typeface="Poppins"/>
                <a:cs typeface="Poppins"/>
              </a:rPr>
              <a:t> </a:t>
            </a:r>
            <a:r>
              <a:rPr lang="fr-FR" sz="4000" dirty="0">
                <a:latin typeface="Poppins"/>
                <a:cs typeface="Poppins"/>
              </a:rPr>
              <a:t>si l’API est UP / opérationnelle</a:t>
            </a:r>
          </a:p>
          <a:p>
            <a:br>
              <a:rPr lang="fr-FR" sz="4000" b="1" dirty="0">
                <a:latin typeface="Poppins"/>
                <a:cs typeface="Poppins"/>
              </a:rPr>
            </a:br>
            <a:r>
              <a:rPr lang="fr-FR" sz="4000" b="1" dirty="0">
                <a:latin typeface="Poppins"/>
                <a:cs typeface="Poppins"/>
              </a:rPr>
              <a:t>- /</a:t>
            </a:r>
            <a:r>
              <a:rPr lang="fr-FR" sz="4000" b="1" dirty="0" err="1">
                <a:latin typeface="Poppins"/>
                <a:cs typeface="Poppins"/>
              </a:rPr>
              <a:t>forecast</a:t>
            </a:r>
            <a:r>
              <a:rPr lang="fr-FR" sz="4000" b="1" dirty="0">
                <a:latin typeface="Poppins"/>
                <a:cs typeface="Poppins"/>
              </a:rPr>
              <a:t>/</a:t>
            </a:r>
            <a:r>
              <a:rPr lang="fr-FR" sz="4000" b="1" dirty="0" err="1">
                <a:latin typeface="Poppins"/>
                <a:cs typeface="Poppins"/>
              </a:rPr>
              <a:t>consumption</a:t>
            </a:r>
            <a:endParaRPr lang="fr-FR" sz="4000" b="1" dirty="0">
              <a:latin typeface="Poppins"/>
              <a:cs typeface="Poppins"/>
            </a:endParaRPr>
          </a:p>
          <a:p>
            <a:r>
              <a:rPr lang="fr-FR" sz="3600" dirty="0">
                <a:latin typeface="Poppins"/>
                <a:cs typeface="Poppins"/>
              </a:rPr>
              <a:t>Input : date au format YYYY-MM-DD</a:t>
            </a:r>
          </a:p>
          <a:p>
            <a:r>
              <a:rPr lang="fr-FR" sz="3600" dirty="0">
                <a:latin typeface="Poppins"/>
                <a:cs typeface="Poppins"/>
              </a:rPr>
              <a:t>Output : JSON avec prédictions horaires de consommation</a:t>
            </a:r>
          </a:p>
          <a:p>
            <a:r>
              <a:rPr lang="fr-FR" sz="3600" dirty="0">
                <a:latin typeface="Poppins"/>
                <a:cs typeface="Poppins"/>
              </a:rPr>
              <a:t>Pour chaque heure :</a:t>
            </a:r>
          </a:p>
          <a:p>
            <a:pPr marL="571500" indent="-571500">
              <a:buFont typeface="Arial" panose="020B0604020202020204" pitchFamily="34" charset="0"/>
              <a:buChar char="•"/>
            </a:pPr>
            <a:r>
              <a:rPr lang="fr-FR" sz="3200" dirty="0" err="1">
                <a:latin typeface="Poppins"/>
                <a:cs typeface="Poppins"/>
              </a:rPr>
              <a:t>hour</a:t>
            </a:r>
            <a:r>
              <a:rPr lang="fr-FR" sz="3200" dirty="0">
                <a:latin typeface="Poppins"/>
                <a:cs typeface="Poppins"/>
              </a:rPr>
              <a:t> : heure correspondante</a:t>
            </a:r>
          </a:p>
          <a:p>
            <a:pPr marL="571500" indent="-571500">
              <a:buFont typeface="Arial" panose="020B0604020202020204" pitchFamily="34" charset="0"/>
              <a:buChar char="•"/>
            </a:pPr>
            <a:r>
              <a:rPr lang="fr-FR" sz="3200" dirty="0" err="1">
                <a:latin typeface="Poppins"/>
                <a:cs typeface="Poppins"/>
              </a:rPr>
              <a:t>predicted</a:t>
            </a:r>
            <a:r>
              <a:rPr lang="fr-FR" sz="3200" dirty="0">
                <a:latin typeface="Poppins"/>
                <a:cs typeface="Poppins"/>
              </a:rPr>
              <a:t> : consommation prédite</a:t>
            </a:r>
          </a:p>
          <a:p>
            <a:pPr marL="571500" indent="-571500">
              <a:buFont typeface="Arial" panose="020B0604020202020204" pitchFamily="34" charset="0"/>
              <a:buChar char="•"/>
            </a:pPr>
            <a:r>
              <a:rPr lang="fr-FR" sz="3200" dirty="0" err="1">
                <a:latin typeface="Poppins"/>
                <a:cs typeface="Poppins"/>
              </a:rPr>
              <a:t>lower</a:t>
            </a:r>
            <a:r>
              <a:rPr lang="fr-FR" sz="3200" dirty="0">
                <a:latin typeface="Poppins"/>
                <a:cs typeface="Poppins"/>
              </a:rPr>
              <a:t> : borne basse de l’intervalle</a:t>
            </a:r>
          </a:p>
          <a:p>
            <a:pPr marL="571500" indent="-571500">
              <a:buFont typeface="Arial" panose="020B0604020202020204" pitchFamily="34" charset="0"/>
              <a:buChar char="•"/>
            </a:pPr>
            <a:r>
              <a:rPr lang="fr-FR" sz="3200" dirty="0" err="1">
                <a:latin typeface="Poppins"/>
                <a:cs typeface="Poppins"/>
              </a:rPr>
              <a:t>upper</a:t>
            </a:r>
            <a:r>
              <a:rPr lang="fr-FR" sz="3200" dirty="0">
                <a:latin typeface="Poppins"/>
                <a:cs typeface="Poppins"/>
              </a:rPr>
              <a:t> : borne haute de l’intervalle</a:t>
            </a:r>
          </a:p>
        </p:txBody>
      </p:sp>
      <p:pic>
        <p:nvPicPr>
          <p:cNvPr id="5" name="Image 4" descr="Une image contenant texte, capture d’écran, Police, ligne&#10;&#10;Le contenu généré par l’IA peut être incorrect.">
            <a:extLst>
              <a:ext uri="{FF2B5EF4-FFF2-40B4-BE49-F238E27FC236}">
                <a16:creationId xmlns:a16="http://schemas.microsoft.com/office/drawing/2014/main" id="{FC2F2161-0B73-D8CF-E73A-21B96AD5CEA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70398" y="0"/>
            <a:ext cx="7213601" cy="3873164"/>
          </a:xfrm>
          <a:prstGeom prst="rect">
            <a:avLst/>
          </a:prstGeom>
        </p:spPr>
      </p:pic>
      <p:pic>
        <p:nvPicPr>
          <p:cNvPr id="9" name="Image 8">
            <a:extLst>
              <a:ext uri="{FF2B5EF4-FFF2-40B4-BE49-F238E27FC236}">
                <a16:creationId xmlns:a16="http://schemas.microsoft.com/office/drawing/2014/main" id="{43BD806F-74EB-3F12-443D-DFAE39CE41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170398" y="3699918"/>
            <a:ext cx="6489700" cy="8229600"/>
          </a:xfrm>
          <a:prstGeom prst="rect">
            <a:avLst/>
          </a:prstGeom>
        </p:spPr>
      </p:pic>
    </p:spTree>
    <p:extLst>
      <p:ext uri="{BB962C8B-B14F-4D97-AF65-F5344CB8AC3E}">
        <p14:creationId xmlns:p14="http://schemas.microsoft.com/office/powerpoint/2010/main" val="41642253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BE6EB-F80D-ED66-B356-9626DDE7AB67}"/>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71FD2D08-611C-0B18-B988-D7F1464FEB00}"/>
              </a:ext>
            </a:extLst>
          </p:cNvPr>
          <p:cNvSpPr txBox="1"/>
          <p:nvPr/>
        </p:nvSpPr>
        <p:spPr>
          <a:xfrm>
            <a:off x="3167745" y="1087347"/>
            <a:ext cx="21410219"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270580">
              <a:lnSpc>
                <a:spcPct val="80000"/>
              </a:lnSpc>
              <a:defRPr sz="9312" spc="-194">
                <a:solidFill>
                  <a:srgbClr val="000000"/>
                </a:solidFill>
                <a:latin typeface="Poppins"/>
                <a:ea typeface="Poppins"/>
                <a:cs typeface="Poppins"/>
                <a:sym typeface="Poppins"/>
              </a:defRPr>
            </a:lvl1pPr>
          </a:lstStyle>
          <a:p>
            <a:r>
              <a:rPr lang="fr-FR" sz="9300" dirty="0" err="1"/>
              <a:t>WebApp</a:t>
            </a:r>
            <a:r>
              <a:rPr lang="fr-FR" sz="9300" dirty="0"/>
              <a:t> - </a:t>
            </a:r>
            <a:r>
              <a:rPr lang="fr-FR" sz="9300" dirty="0" err="1"/>
              <a:t>Streamlit</a:t>
            </a:r>
            <a:endParaRPr lang="fr-FR" sz="9300" dirty="0"/>
          </a:p>
        </p:txBody>
      </p:sp>
      <p:grpSp>
        <p:nvGrpSpPr>
          <p:cNvPr id="63" name="Groupe 43">
            <a:extLst>
              <a:ext uri="{FF2B5EF4-FFF2-40B4-BE49-F238E27FC236}">
                <a16:creationId xmlns:a16="http://schemas.microsoft.com/office/drawing/2014/main" id="{3C295F5E-2A20-AB11-7703-2CE449F86918}"/>
              </a:ext>
            </a:extLst>
          </p:cNvPr>
          <p:cNvGrpSpPr/>
          <p:nvPr/>
        </p:nvGrpSpPr>
        <p:grpSpPr>
          <a:xfrm>
            <a:off x="9209313" y="12921522"/>
            <a:ext cx="15174687" cy="432925"/>
            <a:chOff x="0" y="0"/>
            <a:chExt cx="15174685" cy="432924"/>
          </a:xfrm>
        </p:grpSpPr>
        <p:sp>
          <p:nvSpPr>
            <p:cNvPr id="60" name="Rectangle 44">
              <a:extLst>
                <a:ext uri="{FF2B5EF4-FFF2-40B4-BE49-F238E27FC236}">
                  <a16:creationId xmlns:a16="http://schemas.microsoft.com/office/drawing/2014/main" id="{B517F3E3-A352-2EB2-76C9-7C7EE971DC7C}"/>
                </a:ext>
              </a:extLst>
            </p:cNvPr>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1" name="Rectangle 45">
              <a:extLst>
                <a:ext uri="{FF2B5EF4-FFF2-40B4-BE49-F238E27FC236}">
                  <a16:creationId xmlns:a16="http://schemas.microsoft.com/office/drawing/2014/main" id="{6CE8FE3F-0913-17FC-7969-1C8439DCF451}"/>
                </a:ext>
              </a:extLst>
            </p:cNvPr>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2" name="Rectangle 46">
              <a:extLst>
                <a:ext uri="{FF2B5EF4-FFF2-40B4-BE49-F238E27FC236}">
                  <a16:creationId xmlns:a16="http://schemas.microsoft.com/office/drawing/2014/main" id="{5D8942FD-1981-41F8-6B56-A90B8B8C1F32}"/>
                </a:ext>
              </a:extLst>
            </p:cNvPr>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pic>
        <p:nvPicPr>
          <p:cNvPr id="3" name="Image 2" descr="Une image contenant texte, capture d’écran, Police, conception&#10;&#10;Le contenu généré par l’IA peut être incorrect.">
            <a:extLst>
              <a:ext uri="{FF2B5EF4-FFF2-40B4-BE49-F238E27FC236}">
                <a16:creationId xmlns:a16="http://schemas.microsoft.com/office/drawing/2014/main" id="{3ADBC387-A641-CE62-CF85-31CC67E251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7745" y="4153279"/>
            <a:ext cx="10739151" cy="8768243"/>
          </a:xfrm>
          <a:prstGeom prst="rect">
            <a:avLst/>
          </a:prstGeom>
        </p:spPr>
      </p:pic>
      <p:sp>
        <p:nvSpPr>
          <p:cNvPr id="5" name="ZoneTexte 4">
            <a:extLst>
              <a:ext uri="{FF2B5EF4-FFF2-40B4-BE49-F238E27FC236}">
                <a16:creationId xmlns:a16="http://schemas.microsoft.com/office/drawing/2014/main" id="{AD351A24-0858-5376-7F6C-874AEF8EFA32}"/>
              </a:ext>
            </a:extLst>
          </p:cNvPr>
          <p:cNvSpPr txBox="1"/>
          <p:nvPr/>
        </p:nvSpPr>
        <p:spPr>
          <a:xfrm>
            <a:off x="14851626" y="5839794"/>
            <a:ext cx="7890387" cy="31393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6600" b="1" dirty="0">
                <a:latin typeface="Poppins"/>
                <a:cs typeface="Poppins"/>
              </a:rPr>
              <a:t>Permettre de visualiser nos prévisions </a:t>
            </a:r>
            <a:endParaRPr lang="fr-FR" sz="6000" dirty="0"/>
          </a:p>
        </p:txBody>
      </p:sp>
      <p:sp>
        <p:nvSpPr>
          <p:cNvPr id="7" name="ZoneTexte 6">
            <a:extLst>
              <a:ext uri="{FF2B5EF4-FFF2-40B4-BE49-F238E27FC236}">
                <a16:creationId xmlns:a16="http://schemas.microsoft.com/office/drawing/2014/main" id="{3D71B3C7-B565-CAEF-BF33-18D8B393DCB5}"/>
              </a:ext>
            </a:extLst>
          </p:cNvPr>
          <p:cNvSpPr txBox="1"/>
          <p:nvPr/>
        </p:nvSpPr>
        <p:spPr>
          <a:xfrm>
            <a:off x="3167745" y="2806762"/>
            <a:ext cx="12300154" cy="7078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000" b="1" dirty="0">
                <a:latin typeface="Poppins"/>
                <a:cs typeface="Poppins"/>
              </a:rPr>
              <a:t>Lien: </a:t>
            </a:r>
            <a:r>
              <a:rPr lang="fr-FR" sz="4000" dirty="0">
                <a:latin typeface="Poppins"/>
                <a:cs typeface="Poppins"/>
                <a:hlinkClick r:id="rId4"/>
              </a:rPr>
              <a:t>Streamlit DEV</a:t>
            </a:r>
            <a:r>
              <a:rPr lang="fr-FR" sz="4000" dirty="0">
                <a:latin typeface="Poppins"/>
                <a:cs typeface="Poppins"/>
              </a:rPr>
              <a:t> </a:t>
            </a:r>
            <a:r>
              <a:rPr lang="fr-FR" sz="4000" dirty="0">
                <a:latin typeface="Poppins"/>
                <a:cs typeface="Poppins"/>
                <a:hlinkClick r:id="rId5"/>
              </a:rPr>
              <a:t>Streamlit PRD</a:t>
            </a:r>
            <a:endParaRPr lang="fr-FR" sz="4000" dirty="0">
              <a:latin typeface="Poppins"/>
              <a:cs typeface="Poppins"/>
            </a:endParaRPr>
          </a:p>
        </p:txBody>
      </p:sp>
    </p:spTree>
    <p:extLst>
      <p:ext uri="{BB962C8B-B14F-4D97-AF65-F5344CB8AC3E}">
        <p14:creationId xmlns:p14="http://schemas.microsoft.com/office/powerpoint/2010/main" val="74558986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6AEC-1792-CC3A-D130-AD96D1E91490}"/>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86AE8532-A2AE-47D4-5B40-6986DC7C794F}"/>
              </a:ext>
            </a:extLst>
          </p:cNvPr>
          <p:cNvSpPr txBox="1"/>
          <p:nvPr/>
        </p:nvSpPr>
        <p:spPr>
          <a:xfrm>
            <a:off x="3167745" y="1087347"/>
            <a:ext cx="21410219"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270580">
              <a:lnSpc>
                <a:spcPct val="80000"/>
              </a:lnSpc>
              <a:defRPr sz="9312" spc="-194">
                <a:solidFill>
                  <a:srgbClr val="000000"/>
                </a:solidFill>
                <a:latin typeface="Poppins"/>
                <a:ea typeface="Poppins"/>
                <a:cs typeface="Poppins"/>
                <a:sym typeface="Poppins"/>
              </a:defRPr>
            </a:lvl1pPr>
          </a:lstStyle>
          <a:p>
            <a:r>
              <a:rPr lang="fr-FR" dirty="0"/>
              <a:t>CI / CD / CT</a:t>
            </a:r>
            <a:endParaRPr lang="fr-FR" sz="9300" dirty="0"/>
          </a:p>
        </p:txBody>
      </p:sp>
      <p:grpSp>
        <p:nvGrpSpPr>
          <p:cNvPr id="63" name="Groupe 43">
            <a:extLst>
              <a:ext uri="{FF2B5EF4-FFF2-40B4-BE49-F238E27FC236}">
                <a16:creationId xmlns:a16="http://schemas.microsoft.com/office/drawing/2014/main" id="{E5259D4D-2728-EC45-3511-EAEA9F1EDECA}"/>
              </a:ext>
            </a:extLst>
          </p:cNvPr>
          <p:cNvGrpSpPr/>
          <p:nvPr/>
        </p:nvGrpSpPr>
        <p:grpSpPr>
          <a:xfrm>
            <a:off x="9209313" y="12921522"/>
            <a:ext cx="15174687" cy="432925"/>
            <a:chOff x="0" y="0"/>
            <a:chExt cx="15174685" cy="432924"/>
          </a:xfrm>
        </p:grpSpPr>
        <p:sp>
          <p:nvSpPr>
            <p:cNvPr id="60" name="Rectangle 44">
              <a:extLst>
                <a:ext uri="{FF2B5EF4-FFF2-40B4-BE49-F238E27FC236}">
                  <a16:creationId xmlns:a16="http://schemas.microsoft.com/office/drawing/2014/main" id="{4C60F14D-92A3-286D-E093-7F6D8357B7F6}"/>
                </a:ext>
              </a:extLst>
            </p:cNvPr>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1" name="Rectangle 45">
              <a:extLst>
                <a:ext uri="{FF2B5EF4-FFF2-40B4-BE49-F238E27FC236}">
                  <a16:creationId xmlns:a16="http://schemas.microsoft.com/office/drawing/2014/main" id="{58FFD4BD-23D4-0039-0872-CE7F256AEDB4}"/>
                </a:ext>
              </a:extLst>
            </p:cNvPr>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2" name="Rectangle 46">
              <a:extLst>
                <a:ext uri="{FF2B5EF4-FFF2-40B4-BE49-F238E27FC236}">
                  <a16:creationId xmlns:a16="http://schemas.microsoft.com/office/drawing/2014/main" id="{431B8216-39C4-3F71-F828-4637D8A3E5CE}"/>
                </a:ext>
              </a:extLst>
            </p:cNvPr>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sp>
        <p:nvSpPr>
          <p:cNvPr id="4" name="ZoneTexte 3">
            <a:extLst>
              <a:ext uri="{FF2B5EF4-FFF2-40B4-BE49-F238E27FC236}">
                <a16:creationId xmlns:a16="http://schemas.microsoft.com/office/drawing/2014/main" id="{DFF84CA8-E880-65B6-BBFA-491F76ADD7BA}"/>
              </a:ext>
            </a:extLst>
          </p:cNvPr>
          <p:cNvSpPr txBox="1"/>
          <p:nvPr/>
        </p:nvSpPr>
        <p:spPr>
          <a:xfrm>
            <a:off x="3167745" y="3814141"/>
            <a:ext cx="14294345" cy="68634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400" b="1" dirty="0" err="1"/>
              <a:t>Continuous</a:t>
            </a:r>
            <a:r>
              <a:rPr lang="fr-FR" sz="4400" b="1" dirty="0"/>
              <a:t> </a:t>
            </a:r>
            <a:r>
              <a:rPr lang="fr-FR" sz="4400" b="1" dirty="0" err="1"/>
              <a:t>Integration</a:t>
            </a:r>
            <a:r>
              <a:rPr lang="fr-FR" sz="4400" b="1" dirty="0"/>
              <a:t>: </a:t>
            </a:r>
            <a:r>
              <a:rPr lang="fr-FR" sz="4400" dirty="0"/>
              <a:t>Nous avons créé sur GitHub Actions un script qui vérifie la qualité des flows.</a:t>
            </a:r>
          </a:p>
          <a:p>
            <a:endParaRPr lang="fr-FR" sz="4400" b="1" dirty="0"/>
          </a:p>
          <a:p>
            <a:r>
              <a:rPr lang="fr-FR" sz="4400" b="1" dirty="0" err="1"/>
              <a:t>Continuous</a:t>
            </a:r>
            <a:r>
              <a:rPr lang="fr-FR" sz="4400" b="1" dirty="0"/>
              <a:t> </a:t>
            </a:r>
            <a:r>
              <a:rPr lang="fr-FR" sz="4400" b="1" dirty="0" err="1"/>
              <a:t>Development</a:t>
            </a:r>
            <a:r>
              <a:rPr lang="fr-FR" sz="4400" b="1" dirty="0"/>
              <a:t>:</a:t>
            </a:r>
            <a:r>
              <a:rPr lang="fr-FR" sz="4400" dirty="0"/>
              <a:t> quand on push en « prod », les flows sont automatiquement déployés sur la VM.</a:t>
            </a:r>
          </a:p>
          <a:p>
            <a:r>
              <a:rPr lang="fr-FR" sz="4400" dirty="0"/>
              <a:t>Fichier </a:t>
            </a:r>
          </a:p>
          <a:p>
            <a:endParaRPr lang="fr-FR" sz="4400" dirty="0"/>
          </a:p>
          <a:p>
            <a:r>
              <a:rPr lang="fr-FR" sz="4400" b="1" dirty="0" err="1"/>
              <a:t>Continuous</a:t>
            </a:r>
            <a:r>
              <a:rPr lang="fr-FR" sz="4400" b="1" dirty="0"/>
              <a:t> Training:</a:t>
            </a:r>
            <a:r>
              <a:rPr lang="fr-FR" sz="4400" dirty="0"/>
              <a:t> Toutes les semaines, l’entraînement est relancé avec de nouvelles données glissantes afin d’améliorer le modèle.</a:t>
            </a:r>
          </a:p>
        </p:txBody>
      </p:sp>
      <p:pic>
        <p:nvPicPr>
          <p:cNvPr id="8" name="Image 7" descr="Une image contenant texte, capture d’écran, Police, Page web&#10;&#10;Le contenu généré par l’IA peut être incorrect.">
            <a:extLst>
              <a:ext uri="{FF2B5EF4-FFF2-40B4-BE49-F238E27FC236}">
                <a16:creationId xmlns:a16="http://schemas.microsoft.com/office/drawing/2014/main" id="{45C6F654-A948-AA26-C226-1FEE3873E6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62090" y="3251699"/>
            <a:ext cx="6597445" cy="7988300"/>
          </a:xfrm>
          <a:prstGeom prst="rect">
            <a:avLst/>
          </a:prstGeom>
        </p:spPr>
      </p:pic>
    </p:spTree>
    <p:extLst>
      <p:ext uri="{BB962C8B-B14F-4D97-AF65-F5344CB8AC3E}">
        <p14:creationId xmlns:p14="http://schemas.microsoft.com/office/powerpoint/2010/main" val="419351332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15D24-205C-1749-D672-715A824FC721}"/>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557AD72C-B14B-D6CA-3681-27D80CD3F3FC}"/>
              </a:ext>
            </a:extLst>
          </p:cNvPr>
          <p:cNvSpPr txBox="1"/>
          <p:nvPr/>
        </p:nvSpPr>
        <p:spPr>
          <a:xfrm>
            <a:off x="3167745" y="1087347"/>
            <a:ext cx="21410219"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270580">
              <a:lnSpc>
                <a:spcPct val="80000"/>
              </a:lnSpc>
              <a:defRPr sz="9312" spc="-194">
                <a:solidFill>
                  <a:srgbClr val="000000"/>
                </a:solidFill>
                <a:latin typeface="Poppins"/>
                <a:ea typeface="Poppins"/>
                <a:cs typeface="Poppins"/>
                <a:sym typeface="Poppins"/>
              </a:defRPr>
            </a:lvl1pPr>
          </a:lstStyle>
          <a:p>
            <a:r>
              <a:rPr lang="fr-FR" dirty="0"/>
              <a:t>Monitoring</a:t>
            </a:r>
            <a:endParaRPr lang="fr-FR" sz="9300" dirty="0"/>
          </a:p>
        </p:txBody>
      </p:sp>
      <p:grpSp>
        <p:nvGrpSpPr>
          <p:cNvPr id="63" name="Groupe 43">
            <a:extLst>
              <a:ext uri="{FF2B5EF4-FFF2-40B4-BE49-F238E27FC236}">
                <a16:creationId xmlns:a16="http://schemas.microsoft.com/office/drawing/2014/main" id="{911B4223-7826-A7E6-20EF-D25C7F5472FB}"/>
              </a:ext>
            </a:extLst>
          </p:cNvPr>
          <p:cNvGrpSpPr/>
          <p:nvPr/>
        </p:nvGrpSpPr>
        <p:grpSpPr>
          <a:xfrm>
            <a:off x="9209313" y="12921522"/>
            <a:ext cx="15174687" cy="432925"/>
            <a:chOff x="0" y="0"/>
            <a:chExt cx="15174685" cy="432924"/>
          </a:xfrm>
        </p:grpSpPr>
        <p:sp>
          <p:nvSpPr>
            <p:cNvPr id="60" name="Rectangle 44">
              <a:extLst>
                <a:ext uri="{FF2B5EF4-FFF2-40B4-BE49-F238E27FC236}">
                  <a16:creationId xmlns:a16="http://schemas.microsoft.com/office/drawing/2014/main" id="{9087996D-F0F8-0C5A-6AB6-BF6DA990405A}"/>
                </a:ext>
              </a:extLst>
            </p:cNvPr>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1" name="Rectangle 45">
              <a:extLst>
                <a:ext uri="{FF2B5EF4-FFF2-40B4-BE49-F238E27FC236}">
                  <a16:creationId xmlns:a16="http://schemas.microsoft.com/office/drawing/2014/main" id="{8E60C534-7F5F-E276-F5C7-14D5CACD1F93}"/>
                </a:ext>
              </a:extLst>
            </p:cNvPr>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2" name="Rectangle 46">
              <a:extLst>
                <a:ext uri="{FF2B5EF4-FFF2-40B4-BE49-F238E27FC236}">
                  <a16:creationId xmlns:a16="http://schemas.microsoft.com/office/drawing/2014/main" id="{14B97C6A-AB44-EF97-9305-5A00CFC88FD3}"/>
                </a:ext>
              </a:extLst>
            </p:cNvPr>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sp>
        <p:nvSpPr>
          <p:cNvPr id="5" name="ZoneTexte 4">
            <a:extLst>
              <a:ext uri="{FF2B5EF4-FFF2-40B4-BE49-F238E27FC236}">
                <a16:creationId xmlns:a16="http://schemas.microsoft.com/office/drawing/2014/main" id="{C7696854-C6B0-277B-65E0-7BC23121FB72}"/>
              </a:ext>
            </a:extLst>
          </p:cNvPr>
          <p:cNvSpPr txBox="1"/>
          <p:nvPr/>
        </p:nvSpPr>
        <p:spPr>
          <a:xfrm>
            <a:off x="3167745" y="2697675"/>
            <a:ext cx="15244797" cy="19389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4000" b="1" dirty="0">
                <a:latin typeface="Poppins"/>
                <a:cs typeface="Poppins"/>
              </a:rPr>
              <a:t>Dashboard: </a:t>
            </a:r>
            <a:r>
              <a:rPr lang="fr-FR" sz="4000" dirty="0">
                <a:latin typeface="Poppins"/>
                <a:cs typeface="Poppins"/>
              </a:rPr>
              <a:t>API - Logs monitoring</a:t>
            </a:r>
          </a:p>
          <a:p>
            <a:r>
              <a:rPr lang="fr-FR" sz="4000" b="1" dirty="0">
                <a:latin typeface="Poppins"/>
                <a:cs typeface="Poppins"/>
              </a:rPr>
              <a:t>Monitoring de l’API (records, API, </a:t>
            </a:r>
            <a:r>
              <a:rPr lang="fr-FR" sz="4000" b="1" dirty="0" err="1">
                <a:latin typeface="Poppins"/>
                <a:cs typeface="Poppins"/>
              </a:rPr>
              <a:t>errors</a:t>
            </a:r>
            <a:r>
              <a:rPr lang="fr-FR" sz="4000" b="1" dirty="0">
                <a:latin typeface="Poppins"/>
                <a:cs typeface="Poppins"/>
              </a:rPr>
              <a:t>, </a:t>
            </a:r>
            <a:r>
              <a:rPr lang="fr-FR" sz="4000" b="1" dirty="0" err="1">
                <a:latin typeface="Poppins"/>
                <a:cs typeface="Poppins"/>
              </a:rPr>
              <a:t>etc</a:t>
            </a:r>
            <a:r>
              <a:rPr lang="fr-FR" sz="4000" b="1" dirty="0">
                <a:latin typeface="Poppins"/>
                <a:cs typeface="Poppins"/>
              </a:rPr>
              <a:t>)</a:t>
            </a:r>
          </a:p>
          <a:p>
            <a:r>
              <a:rPr lang="fr-FR" sz="4000" b="1" dirty="0">
                <a:latin typeface="Poppins"/>
                <a:cs typeface="Poppins"/>
              </a:rPr>
              <a:t>Lien: </a:t>
            </a:r>
            <a:r>
              <a:rPr lang="fr-FR" sz="4000" dirty="0">
                <a:latin typeface="Poppins"/>
                <a:cs typeface="Poppins"/>
                <a:hlinkClick r:id="rId3"/>
              </a:rPr>
              <a:t>Lien </a:t>
            </a:r>
            <a:r>
              <a:rPr lang="fr-FR" sz="4000" dirty="0" err="1">
                <a:latin typeface="Poppins"/>
                <a:cs typeface="Poppins"/>
                <a:hlinkClick r:id="rId3"/>
              </a:rPr>
              <a:t>Kibana</a:t>
            </a:r>
            <a:endParaRPr lang="fr-FR" sz="4000" dirty="0">
              <a:latin typeface="Poppins"/>
              <a:cs typeface="Poppins"/>
            </a:endParaRPr>
          </a:p>
        </p:txBody>
      </p:sp>
      <p:pic>
        <p:nvPicPr>
          <p:cNvPr id="7" name="Image 6" descr="Une image contenant capture d’écran, texte, diagramme, Tracé&#10;&#10;Le contenu généré par l’IA peut être incorrect.">
            <a:extLst>
              <a:ext uri="{FF2B5EF4-FFF2-40B4-BE49-F238E27FC236}">
                <a16:creationId xmlns:a16="http://schemas.microsoft.com/office/drawing/2014/main" id="{DA52ED5C-8DD7-4831-4D25-60E9601414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9880" y="4929535"/>
            <a:ext cx="13421032" cy="7699118"/>
          </a:xfrm>
          <a:prstGeom prst="rect">
            <a:avLst/>
          </a:prstGeom>
        </p:spPr>
      </p:pic>
    </p:spTree>
    <p:extLst>
      <p:ext uri="{BB962C8B-B14F-4D97-AF65-F5344CB8AC3E}">
        <p14:creationId xmlns:p14="http://schemas.microsoft.com/office/powerpoint/2010/main" val="171647158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1283D-4CF5-D903-00B2-8B73C603DCBB}"/>
            </a:ext>
          </a:extLst>
        </p:cNvPr>
        <p:cNvGrpSpPr/>
        <p:nvPr/>
      </p:nvGrpSpPr>
      <p:grpSpPr>
        <a:xfrm>
          <a:off x="0" y="0"/>
          <a:ext cx="0" cy="0"/>
          <a:chOff x="0" y="0"/>
          <a:chExt cx="0" cy="0"/>
        </a:xfrm>
      </p:grpSpPr>
      <p:sp>
        <p:nvSpPr>
          <p:cNvPr id="59" name="Titre 4">
            <a:extLst>
              <a:ext uri="{FF2B5EF4-FFF2-40B4-BE49-F238E27FC236}">
                <a16:creationId xmlns:a16="http://schemas.microsoft.com/office/drawing/2014/main" id="{55C4A21A-E058-5353-0309-3FA672446B0B}"/>
              </a:ext>
            </a:extLst>
          </p:cNvPr>
          <p:cNvSpPr txBox="1"/>
          <p:nvPr/>
        </p:nvSpPr>
        <p:spPr>
          <a:xfrm>
            <a:off x="3167745" y="1087347"/>
            <a:ext cx="21410219" cy="15252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Autofit/>
          </a:bodyPr>
          <a:lstStyle>
            <a:lvl1pPr defTabSz="2270580">
              <a:lnSpc>
                <a:spcPct val="80000"/>
              </a:lnSpc>
              <a:defRPr sz="9312" spc="-194">
                <a:solidFill>
                  <a:srgbClr val="000000"/>
                </a:solidFill>
                <a:latin typeface="Poppins"/>
                <a:ea typeface="Poppins"/>
                <a:cs typeface="Poppins"/>
                <a:sym typeface="Poppins"/>
              </a:defRPr>
            </a:lvl1pPr>
          </a:lstStyle>
          <a:p>
            <a:r>
              <a:rPr lang="fr-FR" sz="9300" dirty="0"/>
              <a:t>Notre infrastructure</a:t>
            </a:r>
          </a:p>
        </p:txBody>
      </p:sp>
      <p:grpSp>
        <p:nvGrpSpPr>
          <p:cNvPr id="63" name="Groupe 43">
            <a:extLst>
              <a:ext uri="{FF2B5EF4-FFF2-40B4-BE49-F238E27FC236}">
                <a16:creationId xmlns:a16="http://schemas.microsoft.com/office/drawing/2014/main" id="{A4E1CF50-B7F4-03FD-2400-9737AA3C4982}"/>
              </a:ext>
            </a:extLst>
          </p:cNvPr>
          <p:cNvGrpSpPr/>
          <p:nvPr/>
        </p:nvGrpSpPr>
        <p:grpSpPr>
          <a:xfrm>
            <a:off x="9209313" y="12705060"/>
            <a:ext cx="15174687" cy="432925"/>
            <a:chOff x="0" y="0"/>
            <a:chExt cx="15174685" cy="432924"/>
          </a:xfrm>
        </p:grpSpPr>
        <p:sp>
          <p:nvSpPr>
            <p:cNvPr id="60" name="Rectangle 44">
              <a:extLst>
                <a:ext uri="{FF2B5EF4-FFF2-40B4-BE49-F238E27FC236}">
                  <a16:creationId xmlns:a16="http://schemas.microsoft.com/office/drawing/2014/main" id="{5C4A57B0-CA3E-3517-6604-7E3D1D781312}"/>
                </a:ext>
              </a:extLst>
            </p:cNvPr>
            <p:cNvSpPr/>
            <p:nvPr/>
          </p:nvSpPr>
          <p:spPr>
            <a:xfrm>
              <a:off x="0" y="-1"/>
              <a:ext cx="5049480" cy="432926"/>
            </a:xfrm>
            <a:prstGeom prst="rect">
              <a:avLst/>
            </a:prstGeom>
            <a:solidFill>
              <a:srgbClr val="BF1238"/>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1" name="Rectangle 45">
              <a:extLst>
                <a:ext uri="{FF2B5EF4-FFF2-40B4-BE49-F238E27FC236}">
                  <a16:creationId xmlns:a16="http://schemas.microsoft.com/office/drawing/2014/main" id="{0A937ADF-97BC-1DF0-867F-19BA992AA6BE}"/>
                </a:ext>
              </a:extLst>
            </p:cNvPr>
            <p:cNvSpPr/>
            <p:nvPr/>
          </p:nvSpPr>
          <p:spPr>
            <a:xfrm>
              <a:off x="5062117" y="-1"/>
              <a:ext cx="5049480" cy="432926"/>
            </a:xfrm>
            <a:prstGeom prst="rect">
              <a:avLst/>
            </a:prstGeom>
            <a:solidFill>
              <a:srgbClr val="000000"/>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sp>
          <p:nvSpPr>
            <p:cNvPr id="62" name="Rectangle 46">
              <a:extLst>
                <a:ext uri="{FF2B5EF4-FFF2-40B4-BE49-F238E27FC236}">
                  <a16:creationId xmlns:a16="http://schemas.microsoft.com/office/drawing/2014/main" id="{DD2E075F-7CE4-8AD6-D470-6A0362889735}"/>
                </a:ext>
              </a:extLst>
            </p:cNvPr>
            <p:cNvSpPr/>
            <p:nvPr/>
          </p:nvSpPr>
          <p:spPr>
            <a:xfrm>
              <a:off x="10125206" y="-1"/>
              <a:ext cx="5049480" cy="432926"/>
            </a:xfrm>
            <a:prstGeom prst="rect">
              <a:avLst/>
            </a:prstGeom>
            <a:solidFill>
              <a:srgbClr val="6D5047"/>
            </a:solidFill>
            <a:ln w="12700" cap="flat">
              <a:noFill/>
              <a:miter lim="400000"/>
            </a:ln>
            <a:effectLst/>
          </p:spPr>
          <p:txBody>
            <a:bodyPr wrap="square" lIns="50800" tIns="50800" rIns="50800" bIns="50800" numCol="1" anchor="t">
              <a:noAutofit/>
            </a:bodyPr>
            <a:lstStyle/>
            <a:p>
              <a:pPr defTabSz="914400">
                <a:defRPr sz="1800">
                  <a:solidFill>
                    <a:srgbClr val="000000"/>
                  </a:solidFill>
                  <a:latin typeface="Arial"/>
                  <a:ea typeface="Arial"/>
                  <a:cs typeface="Arial"/>
                  <a:sym typeface="Arial"/>
                </a:defRPr>
              </a:pPr>
              <a:endParaRPr/>
            </a:p>
          </p:txBody>
        </p:sp>
      </p:grpSp>
      <p:sp>
        <p:nvSpPr>
          <p:cNvPr id="4" name="ZoneTexte 3">
            <a:extLst>
              <a:ext uri="{FF2B5EF4-FFF2-40B4-BE49-F238E27FC236}">
                <a16:creationId xmlns:a16="http://schemas.microsoft.com/office/drawing/2014/main" id="{F705029C-D12E-F1E9-5994-B49C8A617A85}"/>
              </a:ext>
            </a:extLst>
          </p:cNvPr>
          <p:cNvSpPr txBox="1"/>
          <p:nvPr/>
        </p:nvSpPr>
        <p:spPr>
          <a:xfrm>
            <a:off x="3167745" y="3226218"/>
            <a:ext cx="19574268" cy="784830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fr-FR" sz="6000" dirty="0">
                <a:latin typeface="Poppins"/>
                <a:cs typeface="Poppins"/>
              </a:rPr>
              <a:t>Le home-server de Julien:</a:t>
            </a:r>
          </a:p>
          <a:p>
            <a:endParaRPr lang="fr-FR" sz="6000" dirty="0">
              <a:latin typeface="Poppins"/>
              <a:cs typeface="Poppins"/>
            </a:endParaRPr>
          </a:p>
          <a:p>
            <a:r>
              <a:rPr lang="fr-FR" sz="4800" b="1" dirty="0">
                <a:latin typeface="Poppins"/>
                <a:cs typeface="Poppins"/>
              </a:rPr>
              <a:t>1 VM (environnement Dev) avec </a:t>
            </a:r>
            <a:r>
              <a:rPr lang="fr-FR" sz="4800" dirty="0">
                <a:latin typeface="Poppins"/>
                <a:cs typeface="Poppins"/>
              </a:rPr>
              <a:t>DOCKER COMPOSE </a:t>
            </a:r>
          </a:p>
          <a:p>
            <a:r>
              <a:rPr lang="fr-FR" sz="4000" dirty="0">
                <a:latin typeface="Poppins"/>
                <a:cs typeface="Poppins"/>
              </a:rPr>
              <a:t>Host: </a:t>
            </a:r>
            <a:r>
              <a:rPr lang="fr-FR" sz="4000" dirty="0" err="1">
                <a:latin typeface="Poppins"/>
                <a:cs typeface="Poppins"/>
              </a:rPr>
              <a:t>Kestra</a:t>
            </a:r>
            <a:r>
              <a:rPr lang="fr-FR" sz="4000" dirty="0">
                <a:latin typeface="Poppins"/>
                <a:cs typeface="Poppins"/>
              </a:rPr>
              <a:t> (:5601), </a:t>
            </a:r>
            <a:r>
              <a:rPr lang="fr-FR" sz="4000" dirty="0" err="1">
                <a:latin typeface="Poppins"/>
                <a:cs typeface="Poppins"/>
              </a:rPr>
              <a:t>FastAPI</a:t>
            </a:r>
            <a:r>
              <a:rPr lang="fr-FR" sz="4000" dirty="0">
                <a:latin typeface="Poppins"/>
                <a:cs typeface="Poppins"/>
              </a:rPr>
              <a:t> (:8000), </a:t>
            </a:r>
            <a:r>
              <a:rPr lang="fr-FR" sz="4000" dirty="0" err="1">
                <a:latin typeface="Poppins"/>
                <a:cs typeface="Poppins"/>
              </a:rPr>
              <a:t>WebApp</a:t>
            </a:r>
            <a:r>
              <a:rPr lang="fr-FR" sz="4000" dirty="0">
                <a:latin typeface="Poppins"/>
                <a:cs typeface="Poppins"/>
              </a:rPr>
              <a:t> (:8501), Bases PG (:5432) </a:t>
            </a:r>
          </a:p>
          <a:p>
            <a:r>
              <a:rPr lang="fr-FR" sz="4000" dirty="0">
                <a:latin typeface="Poppins"/>
                <a:cs typeface="Poppins"/>
              </a:rPr>
              <a:t>S3 </a:t>
            </a:r>
            <a:r>
              <a:rPr lang="fr-FR" sz="4000" dirty="0" err="1">
                <a:latin typeface="Poppins"/>
                <a:cs typeface="Poppins"/>
              </a:rPr>
              <a:t>hosté</a:t>
            </a:r>
            <a:r>
              <a:rPr lang="fr-FR" sz="4000" dirty="0">
                <a:latin typeface="Poppins"/>
                <a:cs typeface="Poppins"/>
              </a:rPr>
              <a:t> séparément (s3fast.llafrance.io)</a:t>
            </a:r>
          </a:p>
          <a:p>
            <a:r>
              <a:rPr lang="fr-FR" sz="4000" dirty="0">
                <a:latin typeface="Poppins"/>
                <a:cs typeface="Poppins"/>
              </a:rPr>
              <a:t>Adresse IP: 192.168.80.212</a:t>
            </a:r>
            <a:br>
              <a:rPr lang="fr-FR" sz="4000" dirty="0">
                <a:latin typeface="Poppins"/>
                <a:cs typeface="Poppins"/>
              </a:rPr>
            </a:br>
            <a:endParaRPr lang="fr-FR" sz="4800" dirty="0">
              <a:latin typeface="Poppins"/>
              <a:cs typeface="Poppins"/>
            </a:endParaRPr>
          </a:p>
          <a:p>
            <a:r>
              <a:rPr lang="fr-FR" sz="4800" b="1" dirty="0">
                <a:latin typeface="Poppins"/>
                <a:cs typeface="Poppins"/>
              </a:rPr>
              <a:t>1 VM (environnement PRD) avec </a:t>
            </a:r>
            <a:r>
              <a:rPr lang="fr-FR" sz="4800" dirty="0">
                <a:latin typeface="Poppins"/>
                <a:cs typeface="Poppins"/>
              </a:rPr>
              <a:t>K3S + </a:t>
            </a:r>
            <a:r>
              <a:rPr lang="fr-FR" sz="4800" dirty="0" err="1">
                <a:latin typeface="Poppins"/>
                <a:cs typeface="Poppins"/>
              </a:rPr>
              <a:t>Helm</a:t>
            </a:r>
            <a:endParaRPr lang="fr-FR" sz="4800" dirty="0">
              <a:latin typeface="Poppins"/>
              <a:cs typeface="Poppins"/>
            </a:endParaRPr>
          </a:p>
          <a:p>
            <a:r>
              <a:rPr lang="fr-FR" sz="4000" dirty="0">
                <a:latin typeface="Poppins"/>
                <a:cs typeface="Poppins"/>
              </a:rPr>
              <a:t>Host: </a:t>
            </a:r>
            <a:r>
              <a:rPr lang="fr-FR" sz="4000" dirty="0" err="1">
                <a:latin typeface="Poppins"/>
                <a:cs typeface="Poppins"/>
              </a:rPr>
              <a:t>Kestra</a:t>
            </a:r>
            <a:r>
              <a:rPr lang="fr-FR" sz="4000" dirty="0">
                <a:latin typeface="Poppins"/>
                <a:cs typeface="Poppins"/>
              </a:rPr>
              <a:t> (:5601), </a:t>
            </a:r>
            <a:r>
              <a:rPr lang="fr-FR" sz="4000" dirty="0" err="1">
                <a:latin typeface="Poppins"/>
                <a:cs typeface="Poppins"/>
              </a:rPr>
              <a:t>FastAPI</a:t>
            </a:r>
            <a:r>
              <a:rPr lang="fr-FR" sz="4000" dirty="0">
                <a:latin typeface="Poppins"/>
                <a:cs typeface="Poppins"/>
              </a:rPr>
              <a:t> (:30800), </a:t>
            </a:r>
            <a:r>
              <a:rPr lang="fr-FR" sz="4000" dirty="0" err="1">
                <a:latin typeface="Poppins"/>
                <a:cs typeface="Poppins"/>
              </a:rPr>
              <a:t>WebApp</a:t>
            </a:r>
            <a:r>
              <a:rPr lang="fr-FR" sz="4000" dirty="0">
                <a:latin typeface="Poppins"/>
                <a:cs typeface="Poppins"/>
              </a:rPr>
              <a:t> (:30085), Bases PG (:5432) </a:t>
            </a:r>
          </a:p>
          <a:p>
            <a:r>
              <a:rPr lang="fr-FR" sz="4000" dirty="0">
                <a:latin typeface="Poppins"/>
                <a:cs typeface="Poppins"/>
              </a:rPr>
              <a:t>S3 </a:t>
            </a:r>
            <a:r>
              <a:rPr lang="fr-FR" sz="4000" dirty="0" err="1">
                <a:latin typeface="Poppins"/>
                <a:cs typeface="Poppins"/>
              </a:rPr>
              <a:t>hosté</a:t>
            </a:r>
            <a:r>
              <a:rPr lang="fr-FR" sz="4000" dirty="0">
                <a:latin typeface="Poppins"/>
                <a:cs typeface="Poppins"/>
              </a:rPr>
              <a:t> séparément (s3fast.llafrance.io)</a:t>
            </a:r>
          </a:p>
          <a:p>
            <a:r>
              <a:rPr lang="fr-FR" sz="4000" dirty="0">
                <a:latin typeface="Poppins"/>
                <a:cs typeface="Poppins"/>
              </a:rPr>
              <a:t>Adresse IP: 192.168.80.127</a:t>
            </a:r>
          </a:p>
        </p:txBody>
      </p:sp>
    </p:spTree>
    <p:extLst>
      <p:ext uri="{BB962C8B-B14F-4D97-AF65-F5344CB8AC3E}">
        <p14:creationId xmlns:p14="http://schemas.microsoft.com/office/powerpoint/2010/main" val="147144521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 name="Logo_Telecom_IPParis_RVB_blanc_H.png" descr="Logo_Telecom_IPParis_RVB_blanc_H.png"/>
          <p:cNvPicPr>
            <a:picLocks noChangeAspect="1"/>
          </p:cNvPicPr>
          <p:nvPr/>
        </p:nvPicPr>
        <p:blipFill>
          <a:blip r:embed="rId2"/>
          <a:stretch>
            <a:fillRect/>
          </a:stretch>
        </p:blipFill>
        <p:spPr>
          <a:xfrm>
            <a:off x="421097" y="396748"/>
            <a:ext cx="6678950" cy="3122531"/>
          </a:xfrm>
          <a:prstGeom prst="rect">
            <a:avLst/>
          </a:prstGeom>
          <a:ln w="12700">
            <a:miter lim="400000"/>
          </a:ln>
        </p:spPr>
      </p:pic>
      <p:sp>
        <p:nvSpPr>
          <p:cNvPr id="176" name="Titre 4"/>
          <p:cNvSpPr txBox="1"/>
          <p:nvPr/>
        </p:nvSpPr>
        <p:spPr>
          <a:xfrm>
            <a:off x="2103694" y="5899444"/>
            <a:ext cx="13128172" cy="191711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b">
            <a:normAutofit/>
          </a:bodyPr>
          <a:lstStyle>
            <a:lvl1pPr defTabSz="1942867">
              <a:lnSpc>
                <a:spcPct val="72000"/>
              </a:lnSpc>
              <a:defRPr sz="11952" spc="-166">
                <a:solidFill>
                  <a:srgbClr val="FFFFFF"/>
                </a:solidFill>
                <a:latin typeface="Poppins"/>
                <a:ea typeface="Poppins"/>
                <a:cs typeface="Poppins"/>
                <a:sym typeface="Poppins"/>
              </a:defRPr>
            </a:lvl1pPr>
          </a:lstStyle>
          <a:p>
            <a:r>
              <a:t>Merci à vous.</a:t>
            </a:r>
          </a:p>
        </p:txBody>
      </p:sp>
    </p:spTree>
  </p:cSld>
  <p:clrMapOvr>
    <a:masterClrMapping/>
  </p:clrMapOvr>
  <p:transition spd="med"/>
</p:sld>
</file>

<file path=ppt/theme/theme1.xml><?xml version="1.0" encoding="utf-8"?>
<a:theme xmlns:a="http://schemas.openxmlformats.org/drawingml/2006/main" name="TP">
  <a:themeElements>
    <a:clrScheme name="TP">
      <a:dk1>
        <a:srgbClr val="555555"/>
      </a:dk1>
      <a:lt1>
        <a:srgbClr val="FFFFFF"/>
      </a:lt1>
      <a:dk2>
        <a:srgbClr val="A7A7A7"/>
      </a:dk2>
      <a:lt2>
        <a:srgbClr val="535353"/>
      </a:lt2>
      <a:accent1>
        <a:srgbClr val="160873"/>
      </a:accent1>
      <a:accent2>
        <a:srgbClr val="1CF38B"/>
      </a:accent2>
      <a:accent3>
        <a:srgbClr val="F6CC46"/>
      </a:accent3>
      <a:accent4>
        <a:srgbClr val="BED1F1"/>
      </a:accent4>
      <a:accent5>
        <a:srgbClr val="FEEAEF"/>
      </a:accent5>
      <a:accent6>
        <a:srgbClr val="A5A5A5"/>
      </a:accent6>
      <a:hlink>
        <a:srgbClr val="0000FF"/>
      </a:hlink>
      <a:folHlink>
        <a:srgbClr val="FF00FF"/>
      </a:folHlink>
    </a:clrScheme>
    <a:fontScheme name="TP">
      <a:majorFont>
        <a:latin typeface="Helvetica Neue"/>
        <a:ea typeface="Helvetica Neue"/>
        <a:cs typeface="Helvetica Neue"/>
      </a:majorFont>
      <a:minorFont>
        <a:latin typeface="Helvetica"/>
        <a:ea typeface="Helvetica"/>
        <a:cs typeface="Helvetica"/>
      </a:minorFont>
    </a:fontScheme>
    <a:fmtScheme name="T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TP">
  <a:themeElements>
    <a:clrScheme name="TP">
      <a:dk1>
        <a:srgbClr val="000000"/>
      </a:dk1>
      <a:lt1>
        <a:srgbClr val="FFFFFF"/>
      </a:lt1>
      <a:dk2>
        <a:srgbClr val="A7A7A7"/>
      </a:dk2>
      <a:lt2>
        <a:srgbClr val="535353"/>
      </a:lt2>
      <a:accent1>
        <a:srgbClr val="160873"/>
      </a:accent1>
      <a:accent2>
        <a:srgbClr val="1CF38B"/>
      </a:accent2>
      <a:accent3>
        <a:srgbClr val="F6CC46"/>
      </a:accent3>
      <a:accent4>
        <a:srgbClr val="BED1F1"/>
      </a:accent4>
      <a:accent5>
        <a:srgbClr val="FEEAEF"/>
      </a:accent5>
      <a:accent6>
        <a:srgbClr val="A5A5A5"/>
      </a:accent6>
      <a:hlink>
        <a:srgbClr val="0000FF"/>
      </a:hlink>
      <a:folHlink>
        <a:srgbClr val="FF00FF"/>
      </a:folHlink>
    </a:clrScheme>
    <a:fontScheme name="TP">
      <a:majorFont>
        <a:latin typeface="Helvetica Neue"/>
        <a:ea typeface="Helvetica Neue"/>
        <a:cs typeface="Helvetica Neue"/>
      </a:majorFont>
      <a:minorFont>
        <a:latin typeface="Helvetica"/>
        <a:ea typeface="Helvetica"/>
        <a:cs typeface="Helvetica"/>
      </a:minorFont>
    </a:fontScheme>
    <a:fmtScheme name="TP">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7" rtl="0" fontAlgn="auto" latinLnBrk="0" hangingPunct="0">
          <a:lnSpc>
            <a:spcPct val="100000"/>
          </a:lnSpc>
          <a:spcBef>
            <a:spcPts val="0"/>
          </a:spcBef>
          <a:spcAft>
            <a:spcPts val="0"/>
          </a:spcAft>
          <a:buClrTx/>
          <a:buSzTx/>
          <a:buFontTx/>
          <a:buNone/>
          <a:tabLst/>
          <a:defRPr kumimoji="0" sz="5500" b="0" i="0" u="none" strike="noStrike" cap="none" spc="0" normalizeH="0" baseline="0">
            <a:ln>
              <a:noFill/>
            </a:ln>
            <a:solidFill>
              <a:srgbClr val="555555"/>
            </a:solidFill>
            <a:effectLst/>
            <a:uFillTx/>
            <a:latin typeface="+mj-lt"/>
            <a:ea typeface="+mj-ea"/>
            <a:cs typeface="+mj-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371</TotalTime>
  <Words>950</Words>
  <Application>Microsoft Macintosh PowerPoint</Application>
  <PresentationFormat>Personnalisé</PresentationFormat>
  <Paragraphs>119</Paragraphs>
  <Slides>11</Slides>
  <Notes>10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11</vt:i4>
      </vt:variant>
    </vt:vector>
  </HeadingPairs>
  <TitlesOfParts>
    <vt:vector size="19" baseType="lpstr">
      <vt:lpstr>Arial</vt:lpstr>
      <vt:lpstr>Calibri</vt:lpstr>
      <vt:lpstr>DINOT-Medium</vt:lpstr>
      <vt:lpstr>DINOT-Regular</vt:lpstr>
      <vt:lpstr>Helvetica Neue</vt:lpstr>
      <vt:lpstr>Helvetica Neue Medium</vt:lpstr>
      <vt:lpstr>Poppins</vt:lpstr>
      <vt:lpstr>TP</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Yassine Mernissi</cp:lastModifiedBy>
  <cp:revision>38</cp:revision>
  <cp:lastPrinted>2026-02-02T07:24:24Z</cp:lastPrinted>
  <dcterms:modified xsi:type="dcterms:W3CDTF">2026-03-11T14:17:32Z</dcterms:modified>
</cp:coreProperties>
</file>